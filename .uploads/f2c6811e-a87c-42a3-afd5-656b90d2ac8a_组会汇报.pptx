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8" r:id="rId6"/>
    <p:sldId id="269" r:id="rId7"/>
    <p:sldId id="272" r:id="rId8"/>
    <p:sldId id="270" r:id="rId9"/>
    <p:sldId id="273" r:id="rId10"/>
    <p:sldId id="284" r:id="rId11"/>
    <p:sldId id="274" r:id="rId12"/>
    <p:sldId id="285" r:id="rId13"/>
    <p:sldId id="295" r:id="rId14"/>
    <p:sldId id="275" r:id="rId15"/>
    <p:sldId id="296" r:id="rId16"/>
    <p:sldId id="286" r:id="rId17"/>
    <p:sldId id="276" r:id="rId18"/>
    <p:sldId id="287" r:id="rId19"/>
    <p:sldId id="297" r:id="rId20"/>
    <p:sldId id="277" r:id="rId21"/>
    <p:sldId id="288" r:id="rId22"/>
    <p:sldId id="278" r:id="rId23"/>
    <p:sldId id="289" r:id="rId24"/>
    <p:sldId id="279" r:id="rId25"/>
    <p:sldId id="290" r:id="rId26"/>
    <p:sldId id="298" r:id="rId27"/>
    <p:sldId id="280" r:id="rId28"/>
    <p:sldId id="291" r:id="rId29"/>
    <p:sldId id="281" r:id="rId30"/>
    <p:sldId id="292" r:id="rId31"/>
    <p:sldId id="282" r:id="rId32"/>
    <p:sldId id="293" r:id="rId33"/>
    <p:sldId id="299" r:id="rId34"/>
    <p:sldId id="283" r:id="rId3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050" b="1"/>
              <a:t>每个 hybrid 层的往返数</a:t>
            </a:r>
            <a:endParaRPr sz="1050" b="1"/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①/② 交换</c:v>
                </c:pt>
              </c:strCache>
            </c:strRef>
          </c:tx>
          <c:spPr>
            <a:solidFill>
              <a:srgbClr val="3D8DFF"/>
            </a:solidFill>
          </c:spPr>
          <c:invertIfNegative val="0"/>
          <c:dLbls>
            <c:numFmt formatCode="0.0;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设计目标</c:v>
                </c:pt>
                <c:pt idx="1">
                  <c:v>MNIST</c:v>
                </c:pt>
                <c:pt idx="2">
                  <c:v>UCI-HAR</c:v>
                </c:pt>
                <c:pt idx="3">
                  <c:v>CIFAR-10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SCI 内部往返</c:v>
                </c:pt>
              </c:strCache>
            </c:strRef>
          </c:tx>
          <c:spPr>
            <a:solidFill>
              <a:srgbClr val="D64545"/>
            </a:solidFill>
          </c:spPr>
          <c:invertIfNegative val="0"/>
          <c:dLbls>
            <c:numFmt formatCode="0.0;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设计目标</c:v>
                </c:pt>
                <c:pt idx="1">
                  <c:v>MNIST</c:v>
                </c:pt>
                <c:pt idx="2">
                  <c:v>UCI-HAR</c:v>
                </c:pt>
                <c:pt idx="3">
                  <c:v>CIFAR-10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5.04</c:v>
                </c:pt>
                <c:pt idx="2">
                  <c:v>5.02</c:v>
                </c:pt>
                <c:pt idx="3">
                  <c:v>5.02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12700">
              <a:solidFill>
                <a:srgbClr val="E5E8EE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b6530ab-66ea-4b4f-956e-88dce703a767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50 Mbps：多买 hybrid 层的额外时延 vs 5% 预算（s）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MNIST 预算</c:v>
                </c:pt>
              </c:strCache>
            </c:strRef>
          </c:tx>
          <c:spPr>
            <a:ln w="22225" cap="rnd">
              <a:solidFill>
                <a:srgbClr val="8A929E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5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0.25</c:v>
                </c:pt>
                <c:pt idx="1">
                  <c:v>0.251</c:v>
                </c:pt>
                <c:pt idx="2">
                  <c:v>0.252</c:v>
                </c:pt>
                <c:pt idx="3">
                  <c:v>0.255</c:v>
                </c:pt>
                <c:pt idx="4">
                  <c:v>0.26</c:v>
                </c:pt>
                <c:pt idx="5">
                  <c:v>0.27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 层 hybrid</c:v>
                </c:pt>
              </c:strCache>
            </c:strRef>
          </c:tx>
          <c:spPr>
            <a:ln w="28575" cap="rnd">
              <a:solidFill>
                <a:srgbClr val="3D8DFF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3D8DFF"/>
              </a:solidFill>
            </c:spPr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5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0.29</c:v>
                </c:pt>
                <c:pt idx="1">
                  <c:v>0.314</c:v>
                </c:pt>
                <c:pt idx="2">
                  <c:v>0.404</c:v>
                </c:pt>
                <c:pt idx="3">
                  <c:v>0.585</c:v>
                </c:pt>
                <c:pt idx="4">
                  <c:v>0.886</c:v>
                </c:pt>
                <c:pt idx="5">
                  <c:v>1.488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 层 hybrid</c:v>
                </c:pt>
              </c:strCache>
            </c:strRef>
          </c:tx>
          <c:spPr>
            <a:ln w="28575" cap="rnd">
              <a:solidFill>
                <a:srgbClr val="1F242E"/>
              </a:solidFill>
              <a:prstDash val="solid"/>
              <a:round/>
            </a:ln>
          </c:spPr>
          <c:marker>
            <c:symbol val="circle"/>
            <c:size val="5"/>
            <c:spPr>
              <a:solidFill>
                <a:srgbClr val="1F242E"/>
              </a:solidFill>
            </c:spPr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5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0.579</c:v>
                </c:pt>
                <c:pt idx="1">
                  <c:v>0.627</c:v>
                </c:pt>
                <c:pt idx="2">
                  <c:v>0.808</c:v>
                </c:pt>
                <c:pt idx="3">
                  <c:v>1.169</c:v>
                </c:pt>
                <c:pt idx="4">
                  <c:v>1.771</c:v>
                </c:pt>
                <c:pt idx="5">
                  <c:v>2.975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CIFAR 预算</c:v>
                </c:pt>
              </c:strCache>
            </c:strRef>
          </c:tx>
          <c:spPr>
            <a:ln w="22225" cap="rnd">
              <a:solidFill>
                <a:srgbClr val="C97A00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5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0.91</c:v>
                </c:pt>
                <c:pt idx="1">
                  <c:v>0.911</c:v>
                </c:pt>
                <c:pt idx="2">
                  <c:v>0.912</c:v>
                </c:pt>
                <c:pt idx="3">
                  <c:v>0.915</c:v>
                </c:pt>
                <c:pt idx="4">
                  <c:v>0.92</c:v>
                </c:pt>
                <c:pt idx="5">
                  <c:v>0.93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UCI 预算</c:v>
                </c:pt>
              </c:strCache>
            </c:strRef>
          </c:tx>
          <c:spPr>
            <a:ln w="22225" cap="rnd">
              <a:solidFill>
                <a:srgbClr val="2E9E6B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5</c:v>
                </c:pt>
                <c:pt idx="2">
                  <c:v>20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0.74</c:v>
                </c:pt>
                <c:pt idx="1">
                  <c:v>0.741</c:v>
                </c:pt>
                <c:pt idx="2">
                  <c:v>0.742</c:v>
                </c:pt>
                <c:pt idx="3">
                  <c:v>0.745</c:v>
                </c:pt>
                <c:pt idx="4">
                  <c:v>0.75</c:v>
                </c:pt>
                <c:pt idx="5">
                  <c:v>0.76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C9D1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3.2"/>
          <c:min val="0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>
            <a:solidFill>
              <a:srgbClr val="C9D1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118791784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800" b="0" i="0" u="none" strike="noStrike" kern="1200" baseline="0">
              <a:solidFill>
                <a:srgbClr val="3D3D3D"/>
              </a:solidFill>
              <a:latin typeface="Arial" panose="020B0604020202020204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4a83d74-dbcd-4c00-a0a8-b725c2d0c38d}"/>
      </c:ext>
    </c:extLst>
  </c:chart>
  <c:txPr>
    <a:bodyPr/>
    <a:lstStyle/>
    <a:p>
      <a:pPr>
        <a:defRPr lang="zh-CN" sz="1000">
          <a:solidFill>
            <a:srgbClr val="3D3D3D"/>
          </a:solidFill>
          <a:latin typeface="Arial" panose="020B0604020202020204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140" b="1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S_key（MB）vs 生成的最大旋转步 max_rot_pow；canonical 三网都需要到 2^11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密钥大小 (MB)</c:v>
                </c:pt>
              </c:strCache>
            </c:strRef>
          </c:tx>
          <c:spPr>
            <a:solidFill>
              <a:srgbClr val="9CC3FF"/>
            </a:solidFill>
          </c:spPr>
          <c:invertIfNegative val="0"/>
          <c:dPt>
            <c:idx val="11"/>
            <c:invertIfNegative val="0"/>
            <c:bubble3D val="0"/>
            <c:spPr>
              <a:solidFill>
                <a:srgbClr val="3D8DFF"/>
              </a:solidFill>
            </c:spPr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50" b="0" i="0" u="none" strike="noStrike" kern="1200" baseline="0">
                    <a:solidFill>
                      <a:srgbClr val="3D3D3D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2^0</c:v>
                </c:pt>
                <c:pt idx="1">
                  <c:v>2^1</c:v>
                </c:pt>
                <c:pt idx="2">
                  <c:v>2^2</c:v>
                </c:pt>
                <c:pt idx="3">
                  <c:v>2^3</c:v>
                </c:pt>
                <c:pt idx="4">
                  <c:v>2^4</c:v>
                </c:pt>
                <c:pt idx="5">
                  <c:v>2^5</c:v>
                </c:pt>
                <c:pt idx="6">
                  <c:v>2^6</c:v>
                </c:pt>
                <c:pt idx="7">
                  <c:v>2^7</c:v>
                </c:pt>
                <c:pt idx="8">
                  <c:v>2^8</c:v>
                </c:pt>
                <c:pt idx="9">
                  <c:v>2^9</c:v>
                </c:pt>
                <c:pt idx="10">
                  <c:v>2^10</c:v>
                </c:pt>
                <c:pt idx="11">
                  <c:v>2^11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23.1</c:v>
                </c:pt>
                <c:pt idx="1">
                  <c:v>37.8</c:v>
                </c:pt>
                <c:pt idx="2">
                  <c:v>52.5</c:v>
                </c:pt>
                <c:pt idx="3">
                  <c:v>67.2</c:v>
                </c:pt>
                <c:pt idx="4">
                  <c:v>81.9</c:v>
                </c:pt>
                <c:pt idx="5">
                  <c:v>96.5</c:v>
                </c:pt>
                <c:pt idx="6">
                  <c:v>111.2</c:v>
                </c:pt>
                <c:pt idx="7">
                  <c:v>125.9</c:v>
                </c:pt>
                <c:pt idx="8">
                  <c:v>140.6</c:v>
                </c:pt>
                <c:pt idx="9">
                  <c:v>155.3</c:v>
                </c:pt>
                <c:pt idx="10">
                  <c:v>170</c:v>
                </c:pt>
                <c:pt idx="11">
                  <c:v>177.3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C9D1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>
            <a:solidFill>
              <a:srgbClr val="C9D1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f1e4884a-9615-402e-b92e-40b490df9e22}"/>
      </c:ext>
    </c:extLst>
  </c:chart>
  <c:txPr>
    <a:bodyPr/>
    <a:lstStyle/>
    <a:p>
      <a:pPr>
        <a:defRPr lang="zh-CN" sz="950">
          <a:solidFill>
            <a:srgbClr val="3D3D3D"/>
          </a:solidFill>
          <a:latin typeface="Arial" panose="020B0604020202020204"/>
        </a:defRPr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050" b="1"/>
              <a:t>s11 每次查询上传+下载总量 (MB)</a:t>
            </a:r>
            <a:endParaRPr sz="1050" b="1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s11 每查询总字节 (MB)</c:v>
                </c:pt>
              </c:strCache>
            </c:strRef>
          </c:tx>
          <c:spPr>
            <a:solidFill>
              <a:srgbClr val="3D8DFF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baseline</c:v>
                </c:pt>
                <c:pt idx="1">
                  <c:v>seeded</c:v>
                </c:pt>
                <c:pt idx="2">
                  <c:v>modswitch</c:v>
                </c:pt>
                <c:pt idx="3">
                  <c:v>zstd</c:v>
                </c:pt>
                <c:pt idx="4">
                  <c:v>shortchain</c:v>
                </c:pt>
                <c:pt idx="5">
                  <c:v>compact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5.11</c:v>
                </c:pt>
                <c:pt idx="1">
                  <c:v>3.74</c:v>
                </c:pt>
                <c:pt idx="2">
                  <c:v>3.67</c:v>
                </c:pt>
                <c:pt idx="3">
                  <c:v>2.46</c:v>
                </c:pt>
                <c:pt idx="4">
                  <c:v>2.23</c:v>
                </c:pt>
                <c:pt idx="5">
                  <c:v>0.87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12700">
              <a:solidFill>
                <a:srgbClr val="E5E8EE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e85263be-6523-48a2-805a-559bac734706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140" b="1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精度 vs 时间（VGG，r_h=1，模型）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Pareto 前沿（VGG）</c:v>
                </c:pt>
              </c:strCache>
            </c:strRef>
          </c:tx>
          <c:spPr>
            <a:ln w="25400" cap="rnd">
              <a:solidFill>
                <a:srgbClr val="3D8DFF"/>
              </a:solidFill>
              <a:prstDash val="solid"/>
              <a:round/>
            </a:ln>
          </c:spPr>
          <c:marker>
            <c:spPr>
              <a:solidFill>
                <a:srgbClr val="3D8DFF"/>
              </a:solidFill>
            </c:spPr>
          </c:marker>
          <c:dLbls>
            <c:delete val="1"/>
          </c:dLbls>
          <c:xVal>
            <c:numRef>
              <c:f>Sheet1!$A$2:$A$6</c:f>
              <c:numCache>
                <c:formatCode>General</c:formatCode>
                <c:ptCount val="5"/>
                <c:pt idx="0">
                  <c:v>16.11</c:v>
                </c:pt>
                <c:pt idx="1">
                  <c:v>19.53</c:v>
                </c:pt>
                <c:pt idx="2">
                  <c:v>23</c:v>
                </c:pt>
                <c:pt idx="3">
                  <c:v>26.65</c:v>
                </c:pt>
                <c:pt idx="4">
                  <c:v>26.65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85.55</c:v>
                </c:pt>
                <c:pt idx="1">
                  <c:v>87.05</c:v>
                </c:pt>
                <c:pt idx="2">
                  <c:v>88.05</c:v>
                </c:pt>
                <c:pt idx="3">
                  <c:v>88.55</c:v>
                </c:pt>
                <c:pt idx="4">
                  <c:v>88.55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Sheet1!$B$8</c:f>
              <c:strCache>
                <c:ptCount val="1"/>
                <c:pt idx="0">
                  <c:v>其它策略</c:v>
                </c:pt>
              </c:strCache>
            </c:strRef>
          </c:tx>
          <c:spPr>
            <a:ln w="38100" cap="rnd">
              <a:noFill/>
              <a:prstDash val="solid"/>
              <a:round/>
            </a:ln>
          </c:spPr>
          <c:marker>
            <c:spPr>
              <a:solidFill>
                <a:srgbClr val="8A929E"/>
              </a:solidFill>
              <a:ln w="12700">
                <a:solidFill>
                  <a:srgbClr val="8A929E"/>
                </a:solidFill>
                <a:prstDash val="solid"/>
                <a:round/>
              </a:ln>
            </c:spPr>
          </c:marker>
          <c:dLbls>
            <c:delete val="1"/>
          </c:dLbls>
          <c:xVal>
            <c:numRef>
              <c:f>Sheet1!$A$9:$A$11</c:f>
              <c:numCache>
                <c:formatCode>General</c:formatCode>
                <c:ptCount val="3"/>
                <c:pt idx="0">
                  <c:v>30.31</c:v>
                </c:pt>
                <c:pt idx="1">
                  <c:v>23.37</c:v>
                </c:pt>
                <c:pt idx="2">
                  <c:v>12.64</c:v>
                </c:pt>
              </c:numCache>
            </c:numRef>
          </c:xVal>
          <c:yVal>
            <c:numRef>
              <c:f>Sheet1!$B$9:$B$11</c:f>
              <c:numCache>
                <c:formatCode>General</c:formatCode>
                <c:ptCount val="3"/>
                <c:pt idx="0">
                  <c:v>88.55</c:v>
                </c:pt>
                <c:pt idx="1">
                  <c:v>88.05</c:v>
                </c:pt>
                <c:pt idx="2">
                  <c:v>83.55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32"/>
          <c:min val="1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12700">
            <a:solidFill>
              <a:srgbClr val="C9D1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89.5"/>
          <c:min val="83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>
            <a:solidFill>
              <a:srgbClr val="C9D1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950" b="0" i="0" u="none" strike="noStrike" kern="1200" baseline="0">
              <a:solidFill>
                <a:srgbClr val="3D3D3D"/>
              </a:solidFill>
              <a:latin typeface="Arial" panose="020B0604020202020204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830adbd-ba9b-46e5-a2c1-746ef00a70f9}"/>
      </c:ext>
    </c:extLst>
  </c:chart>
  <c:txPr>
    <a:bodyPr/>
    <a:lstStyle/>
    <a:p>
      <a:pPr>
        <a:defRPr lang="zh-CN" sz="950">
          <a:solidFill>
            <a:srgbClr val="3D3D3D"/>
          </a:solidFill>
          <a:latin typeface="Arial" panose="020B0604020202020204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rgbClr val="3D3D3D"/>
                </a:solidFill>
                <a:latin typeface="Arial" panose="020B0604020202020204"/>
                <a:ea typeface="+mn-ea"/>
                <a:cs typeface="+mn-cs"/>
              </a:defRPr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客户端加解密：x86 vs Pi5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x86</c:v>
                </c:pt>
              </c:strCache>
            </c:strRef>
          </c:tx>
          <c:spPr>
            <a:solidFill>
              <a:srgbClr val="8A929E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3D3D3D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T_enc (ms)</c:v>
                </c:pt>
                <c:pt idx="1">
                  <c:v>T_dec (ms)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3.77</c:v>
                </c:pt>
                <c:pt idx="1">
                  <c:v>0.36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Pi5</c:v>
                </c:pt>
              </c:strCache>
            </c:strRef>
          </c:tx>
          <c:spPr>
            <a:solidFill>
              <a:srgbClr val="3D8DFF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rgbClr val="3D3D3D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T_enc (ms)</c:v>
                </c:pt>
                <c:pt idx="1">
                  <c:v>T_dec (ms)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17.9</c:v>
                </c:pt>
                <c:pt idx="1">
                  <c:v>1.71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12700">
            <a:solidFill>
              <a:srgbClr val="C9D1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>
            <a:solidFill>
              <a:srgbClr val="C9D1DC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B64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rgbClr val="3D3D3D"/>
              </a:solidFill>
              <a:latin typeface="Arial" panose="020B0604020202020204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ff185c47-62b6-4a15-a0ff-9c797cf84cc9}"/>
      </c:ext>
    </c:extLst>
  </c:chart>
  <c:txPr>
    <a:bodyPr/>
    <a:lstStyle/>
    <a:p>
      <a:pPr>
        <a:defRPr lang="zh-CN" sz="1000">
          <a:solidFill>
            <a:srgbClr val="3D3D3D"/>
          </a:solidFill>
          <a:latin typeface="Arial" panose="020B0604020202020204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390525" y="2247900"/>
            <a:ext cx="9525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zh-CN"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组会汇报</a:t>
            </a:r>
            <a:endParaRPr lang="zh-CN" sz="54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28625" y="348615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950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950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zh-CN" sz="1950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王梓杨</a:t>
            </a:r>
            <a:endParaRPr lang="zh-CN" sz="1950" b="0">
              <a:solidFill>
                <a:srgbClr val="3D3D3D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28625" y="411480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3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3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rPr>
              <a:t>2026-10-29</a:t>
            </a:r>
            <a:endParaRPr sz="1350" b="0">
              <a:solidFill>
                <a:srgbClr val="6B6B6B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Subtitle"/>
          <p:cNvSpPr txBox="1"/>
          <p:nvPr/>
        </p:nvSpPr>
        <p:spPr>
          <a:xfrm>
            <a:off x="868680" y="4663440"/>
            <a:ext cx="100584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6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LitePI：面向资源受限 IoT 客户端的低交互隐私推理 —— E1–E10 实验全线核验</a:t>
            </a:r>
            <a:endParaRPr lang="zh-CN" sz="16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390525" y="304800"/>
            <a:ext cx="114014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zh-CN"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全线梳理（迄今为止所有</a:t>
            </a:r>
            <a:r>
              <a:rPr lang="zh-CN"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实验）</a:t>
            </a:r>
            <a:endParaRPr lang="zh-CN" sz="27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90525" y="1819275"/>
            <a:ext cx="95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  <a:endParaRPr sz="300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571625" y="1762125"/>
            <a:ext cx="1019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zh-CN"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背景与论文</a:t>
            </a:r>
            <a:r>
              <a:rPr lang="zh-CN"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思路</a:t>
            </a:r>
            <a:endParaRPr lang="zh-CN" sz="1875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571625" y="2162175"/>
            <a:ext cx="10191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zh-CN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目前</a:t>
            </a:r>
            <a:r>
              <a:rPr lang="en-US" altLang="zh-CN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IoT</a:t>
            </a:r>
            <a:r>
              <a:rPr lang="zh-CN" altLang="en-US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设备产生大量敏感信息，相较于</a:t>
            </a:r>
            <a:r>
              <a:rPr lang="en-US" altLang="zh-CN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delphi</a:t>
            </a:r>
            <a:r>
              <a:rPr lang="zh-CN" altLang="en-US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的</a:t>
            </a:r>
            <a:r>
              <a:rPr lang="zh-CN" altLang="en-US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创新点，提出</a:t>
            </a:r>
            <a:r>
              <a:rPr lang="en-US" altLang="zh-CN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litePi</a:t>
            </a:r>
            <a:r>
              <a:rPr lang="zh-CN" altLang="en-US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的思路和想法以及实现</a:t>
            </a:r>
            <a:r>
              <a:rPr lang="zh-CN" altLang="en-US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过程</a:t>
            </a:r>
            <a:endParaRPr lang="zh-CN" altLang="en-US" sz="1275" b="0">
              <a:solidFill>
                <a:srgbClr val="3D3D3D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90525" y="3267075"/>
            <a:ext cx="95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  <a:endParaRPr sz="300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571625" y="3209925"/>
            <a:ext cx="1019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E1-E10</a:t>
            </a:r>
            <a:r>
              <a:rPr lang="zh-CN" altLang="en-US"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实验成果（完成点与</a:t>
            </a:r>
            <a:r>
              <a:rPr lang="zh-CN" altLang="en-US"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未完成点）</a:t>
            </a:r>
            <a:endParaRPr lang="zh-CN" altLang="en-US" sz="1875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571625" y="3609975"/>
            <a:ext cx="10191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rPr>
              <a:t>E1–E10 每个实验两页：目的与思路 → 实验数据与验收结论；严格对照《实验方案设计》H1–H6 与《LitePI 协议设计》核验</a:t>
            </a:r>
            <a:endParaRPr lang="zh-CN" altLang="en-US" sz="1275" b="0">
              <a:solidFill>
                <a:srgbClr val="3D3D3D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90525" y="4714875"/>
            <a:ext cx="952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30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endParaRPr sz="300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71625" y="4657725"/>
            <a:ext cx="1019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endParaRPr sz="1875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571625" y="5057775"/>
            <a:ext cx="10191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275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pPr>
            <a:endParaRPr sz="1275" b="0">
              <a:solidFill>
                <a:srgbClr val="3D3D3D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277600" y="6276975"/>
            <a:ext cx="5238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背景：IoT 设备的局限性，以及本文要解决的问题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敏感数据在资源受限的客户端产生，推理却必须交给云端；现有隐私推理把代价压在了客户端身上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2377440" cy="10515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可穿戴 ECG 贴片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1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持续采集心电；只采集、</a:t>
            </a:r>
            <a:endParaRPr lang="zh-CN" sz="11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1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不做任何密码计算</a:t>
            </a:r>
            <a:endParaRPr lang="zh-CN" sz="11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2880360" y="1947672"/>
            <a:ext cx="64008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834640" y="1527048"/>
            <a:ext cx="7772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0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BLE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566160" y="1417320"/>
            <a:ext cx="3291840" cy="105156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手机 / 家庭网关 = LitePI 客户端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1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ARM 数 GHz · 百 MB 级内存 · 电池供电</a:t>
            </a:r>
            <a:endParaRPr lang="zh-CN" sz="11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1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持私钥 sk 与私有输入 x</a:t>
            </a:r>
            <a:endParaRPr lang="zh-CN" sz="11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6903720" y="1947672"/>
            <a:ext cx="96012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0" y="1490472"/>
            <a:ext cx="10515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10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互联网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300"/>
              </a:spcAft>
            </a:pPr>
            <a:r>
              <a:rPr lang="zh-CN" sz="10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RTT 10–200 ms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909560" y="1417320"/>
            <a:ext cx="3840480" cy="10515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云端医疗推理服务（单一服务商）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1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持模型 θ（心律失常分类网络）</a:t>
            </a:r>
            <a:endParaRPr lang="zh-CN" sz="11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1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半诚实：照协议执行但会尝试推断 x</a:t>
            </a:r>
            <a:endParaRPr lang="zh-CN" sz="11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532888"/>
            <a:ext cx="11292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风险：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ECG 波形直接暴露健康状况；明文上传后服务商可做画像、二次分析、转售。TLS 只保护传输，云端仍持有明文。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72200" y="2999232"/>
            <a:ext cx="5577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客户端侧的 6 个挑战（论文 §1.2）</a:t>
            </a:r>
            <a:endParaRPr lang="zh-CN" sz="1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72200" y="3429000"/>
            <a:ext cx="2697480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81928" y="3502152"/>
            <a:ext cx="2478024" cy="7863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250" b="1" i="0">
                <a:solidFill>
                  <a:srgbClr val="3D8D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1. 算力弱</a:t>
            </a:r>
            <a:endParaRPr lang="zh-CN" sz="1250" b="1" i="0">
              <a:solidFill>
                <a:srgbClr val="3D8D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加密/解密要在 ARM 上毫秒级完成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052560" y="3429000"/>
            <a:ext cx="2697480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62288" y="3502152"/>
            <a:ext cx="2478024" cy="7863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250" b="1" i="0">
                <a:solidFill>
                  <a:srgbClr val="3D8D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2. 内存有限</a:t>
            </a:r>
            <a:endParaRPr lang="zh-CN" sz="1250" b="1" i="0">
              <a:solidFill>
                <a:srgbClr val="3D8D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评估密钥、密文都要放进百 MB 内存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72200" y="4434840"/>
            <a:ext cx="2697480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81928" y="4507992"/>
            <a:ext cx="2478024" cy="7863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250" b="1" i="0">
                <a:solidFill>
                  <a:srgbClr val="3D8D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3. 网络 RTT 高</a:t>
            </a:r>
            <a:endParaRPr lang="zh-CN" sz="1250" b="1" i="0">
              <a:solidFill>
                <a:srgbClr val="3D8D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每多一轮交互就多一个 RTT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052560" y="4434840"/>
            <a:ext cx="2697480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62288" y="4507992"/>
            <a:ext cx="2478024" cy="7863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250" b="1" i="0">
                <a:solidFill>
                  <a:srgbClr val="3D8D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4. 非线性层导致交互</a:t>
            </a:r>
            <a:endParaRPr lang="zh-CN" sz="1250" b="1" i="0">
              <a:solidFill>
                <a:srgbClr val="3D8D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ReLU 在 HE 中算不了，MPC 要逐层往返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172200" y="5440680"/>
            <a:ext cx="2697480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81928" y="5513832"/>
            <a:ext cx="2478024" cy="7863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250" b="1" i="0">
                <a:solidFill>
                  <a:srgbClr val="3D8D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5. 精度 vs 低交互冲突</a:t>
            </a:r>
            <a:endParaRPr lang="zh-CN" sz="1250" b="1" i="0">
              <a:solidFill>
                <a:srgbClr val="3D8D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多项式替代 ReLU 省交互但可能掉点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052560" y="5440680"/>
            <a:ext cx="2697480" cy="89611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62288" y="5513832"/>
            <a:ext cx="2478024" cy="7863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250" b="1" i="0">
                <a:solidFill>
                  <a:srgbClr val="3D8D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6. 固定协议难适配</a:t>
            </a:r>
            <a:endParaRPr lang="zh-CN" sz="1250" b="1" i="0">
              <a:solidFill>
                <a:srgbClr val="3D8D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设备、网络千差万别，一种配置不够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Card 现有方案为什么不适合 IoT 客户端"/>
          <p:cNvSpPr/>
          <p:nvPr/>
        </p:nvSpPr>
        <p:spPr>
          <a:xfrm>
            <a:off x="457200" y="3017520"/>
            <a:ext cx="5486400" cy="33375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3145536"/>
            <a:ext cx="512064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现有方案为什么不适合 IoT 客户端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0080" y="3584448"/>
            <a:ext cx="5120640" cy="26791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5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纯 HE（CryptoNets 类）：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只能用多项式激活，乘法深度受 CKKS 参数限制，网络一深精度就掉，参数一大密文与密钥就膨胀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5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HE + MPC（Gazelle / Delphi / CrypTFlow2 类）：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每个 ReLU 层都要客户端在线参与；Delphi 的 GC 路线还要求客户端在预处理阶段接收并在线求值混淆电路，客户端存储与通信是主要成本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5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双服务器秘密分享：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客户端可离线，但依赖两个非共谋服务器，与“用户—单一云服务商”的真实部署不符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本文要解决的问题：</a:t>
            </a:r>
            <a:r>
              <a:rPr lang="zh-CN" sz="11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单服务器、半诚实模型下，让客户端只做“编码 + 少量加解密”，交互轮数可按设备/网络调节，且精度损失可控</a:t>
            </a:r>
            <a:endParaRPr lang="zh-CN" sz="11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依据：论文草稿 §1.1–§1.3、§3 Threat Model；协议设计 §1.2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本文思路：LitePI 设计概要，以及相对 Delphi 的创新点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一个协议、一个可替换的非线性原语：HE-only 是 2 轮主干道，每个非线性层可选走 Hybrid 岔路，由 Planner 决定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630936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0116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200" b="1" i="0">
                <a:solidFill>
                  <a:srgbClr val="3D8D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 C（Pi5 / 手机）</a:t>
            </a:r>
            <a:endParaRPr lang="zh-CN" sz="1200" b="1" i="0">
              <a:solidFill>
                <a:srgbClr val="3D8D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9120" y="1508760"/>
            <a:ext cx="2286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1200" b="1" i="0">
                <a:solidFill>
                  <a:srgbClr val="1B2A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服务器 S（持模型 θ）</a:t>
            </a:r>
            <a:endParaRPr lang="zh-CN" sz="1200" b="1" i="0">
              <a:solidFill>
                <a:srgbClr val="1B2A4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离线 Setup：KeyGen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(pk, sk, evk)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34840" y="1920240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Planner：设备/网络 profile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+ 精度下限 → 调度 s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2788920" y="2157984"/>
            <a:ext cx="1645920" cy="0"/>
          </a:xfrm>
          <a:prstGeom prst="line">
            <a:avLst/>
          </a:prstGeom>
          <a:ln w="22225">
            <a:solidFill>
              <a:srgbClr val="8A92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88920" y="1847088"/>
            <a:ext cx="164591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M0: pk+evk（一次）</a:t>
            </a:r>
            <a:endParaRPr lang="zh-CN" sz="9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" y="2633472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im2col 编码 + 加密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ct_x = Enc(x)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34840" y="2633472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LinearEval（Conv/FC）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密文 × 明文权重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2788920" y="2871215"/>
            <a:ext cx="164592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88920" y="2560320"/>
            <a:ext cx="164591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M1: ct_x</a:t>
            </a:r>
            <a:endParaRPr lang="zh-CN" sz="9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34840" y="3346704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s_k = 0：HE-P₂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服务端本地平方，0 交互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434840" y="3968496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s_k = 1：加掩码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ct_{z+r} = ct_z + Enc(r)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17" name="Connector 16"/>
          <p:cNvCxnSpPr/>
          <p:nvPr/>
        </p:nvCxnSpPr>
        <p:spPr>
          <a:xfrm flipH="1">
            <a:off x="2788920" y="4206240"/>
            <a:ext cx="164592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88920" y="3895344"/>
            <a:ext cx="164591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① ct_{z+r}</a:t>
            </a:r>
            <a:endParaRPr lang="zh-CN" sz="9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40080" y="3968496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解密 = 份额 z+r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（解密即份额）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0080" y="4590288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SCI ReLU（加性共享+OT）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再加密 Enc(c_c)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434840" y="4590288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ct_{ReLU(z)} = Enc(c_c)+Enc(c_s)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深度重置到链顶 L7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2788920" y="4828031"/>
            <a:ext cx="164592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88920" y="4517136"/>
            <a:ext cx="164591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② OT + Enc(c_c)</a:t>
            </a:r>
            <a:endParaRPr lang="zh-CN" sz="9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0080" y="5303520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解密 + argmax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（档位 B：只得类别索引）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434840" y="5303520"/>
            <a:ext cx="2148840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最后一层 FC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输出 ct_y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26" name="Connector 25"/>
          <p:cNvCxnSpPr/>
          <p:nvPr/>
        </p:nvCxnSpPr>
        <p:spPr>
          <a:xfrm flipH="1">
            <a:off x="2788920" y="5541264"/>
            <a:ext cx="164592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88920" y="5230368"/>
            <a:ext cx="1645919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M3: ct_y</a:t>
            </a:r>
            <a:endParaRPr lang="zh-CN" sz="9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5943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在线轮数 R = 2 + K_h·r_h（K_h = 走岔路的层数）；r_h 已端到端实测 ≈ 6.0（SCI 内部 5.0 轮 + ①/② 1 轮），设计目标是 1；客户端在线只做 1+K_h 次加密、1+K_h 次解密，旋转/重线性化 0 次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949440" y="1417320"/>
          <a:ext cx="4800598" cy="427939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051560"/>
                <a:gridCol w="1874519"/>
                <a:gridCol w="187451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维度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Delphi（USENIX Sec'20）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LitePI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非线性计算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ReLU 走 GC；NAS 把部分 ReLU 换成二次多项式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逐层二选一：HE-P₂（0 交互）或 SCI ReLU（加性共享+OT）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客户端预处理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每次推理都要参与离线阶段：HE 生成线性层份额、接收混淆电路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只做一次 Setup（密钥）；线性层由服务器在密文上算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调度依据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精度 / 服务端时延（NAS 选层）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客户端设备 + 网络 profile + 精度下限，可退化为 0 交互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深度 / 参数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线性层在份额上算，无深度限制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岔路再加密重置深度：调度 s 与 CKKS 参数 p 联合设计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多查询安全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显式掩码规则 M1–M3 + E10 泄漏量化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代价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客户端存储/通信重（GC）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服务端在线 HE 计算重（4–28 s/次，E2）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30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依据：协议设计 §2、§4、§10、§12；Delphi 描述按其原论文机制概括。r_h 实测见 E3（r_h_netem_*.json，3 数据集）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390525" y="2247900"/>
            <a:ext cx="9525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zh-CN"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实验</a:t>
            </a:r>
            <a:r>
              <a:rPr lang="en-US" altLang="zh-CN"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E1-E10</a:t>
            </a:r>
            <a:r>
              <a:rPr lang="zh-CN" altLang="en-US"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全线</a:t>
            </a:r>
            <a:r>
              <a:rPr lang="zh-CN" altLang="en-US"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汇报</a:t>
            </a:r>
            <a:endParaRPr lang="zh-CN" altLang="en-US" sz="54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28625" y="3486150"/>
            <a:ext cx="8572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950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950" b="0">
                <a:solidFill>
                  <a:srgbClr val="3D3D3D"/>
                </a:solidFill>
                <a:latin typeface="Helvetica Neue"/>
                <a:ea typeface="Helvetica Neue"/>
                <a:cs typeface="Helvetica Neue"/>
              </a:defRPr>
            </a:pPr>
            <a:endParaRPr lang="zh-CN" sz="1950" b="0">
              <a:solidFill>
                <a:srgbClr val="3D3D3D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428625" y="4114800"/>
            <a:ext cx="381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3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350" b="0">
                <a:solidFill>
                  <a:srgbClr val="6B6B6B"/>
                </a:solidFill>
                <a:latin typeface="Helvetica Neue"/>
                <a:ea typeface="Helvetica Neue"/>
                <a:cs typeface="Helvetica Neue"/>
              </a:defRPr>
            </a:pPr>
            <a:endParaRPr sz="1350" b="0">
              <a:solidFill>
                <a:srgbClr val="6B6B6B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3840480"/>
            <a:ext cx="10058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每个实验两页：第一页讲“实验目的 + 实验思路”，第二页讲“实验数据 + 是否达到验收标准”</a:t>
            </a:r>
            <a:endParaRPr lang="zh-CN" sz="15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核验依据：《实验方案设计》H1–H6 与 E1–E10 设计；《LitePI 协议设计》§2–§12；数据来自仓库 sci-backend 分支 results/</a:t>
            </a:r>
            <a:endParaRPr lang="zh-CN" sz="13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E1–E10 完成清单，以及用到的软硬件工具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 个实验：8 个部分完成，E6 未开始，E9 改为 netem 实测待补测；E7 改为真消融，E8 改为找盈亏点；E10b 旧 AUC 待重跑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30000"/>
          <a:ext cx="11292840" cy="3700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143000"/>
                <a:gridCol w="2377440"/>
                <a:gridCol w="868680"/>
                <a:gridCol w="3566160"/>
                <a:gridCol w="333756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实验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验证内容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状态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已有数据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主要缺口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E1 精度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H1：自适应调度精度 ≥ 纯同态，接近全混合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部分完成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明文 4 调度×3 数据集×5 种子；密文 60 组（一致率 99.69–100%）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混合调度的精度增益只在深网出现，深网无密文实现；E1 抽查（≈3.3 h）暂缓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E2 客户端开销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H2：客户端时间/内存 ≪ Delphi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部分完成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与 Pi5 各 3 数据集×5 种子（纯同态）；hybrid 每层分解；客户端内存 111–113 MB（Delphi 347 MiB）；Delphi 已复现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Pi5 未测 hybrid；能耗无；对 Delphi 只能系统级对比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E3 低交互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H3：RTT 越大，少交互的优势越大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部分完成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r_h 端到端实测 6.02（3 数据集）；解析模型 162 点按实测 r_h 重算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全网格 216 点 netem 暂缓；曲线仍是模型值，不是逐点实测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E4 通信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H4：通信 &lt; TenSEAL naive、Delphi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部分完成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逐层字节、密钥、旋转键裁剪（5 种子）；6 档线格式实测：compact 每查询 −74%，密钥 176→45.5 MiB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无 TenSEAL naive 对照；压缩后的字节未换算成实测延迟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E5 规划器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H5：自适应调度 Pareto 支配其它策略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部分完成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成本改为 E1/E2/E4 + 实测 r_h 拟合；5 种网/6 种策略（含随机×5）；深网可执行性约束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精度仍是罚项模型；深网无密文实现；hybrid 内存增量未测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E6 能耗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客户端能耗与电池寿命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未开始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C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缺 USB 功率计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E7 消融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真消融：完整设计 vs 去掉一项，标证据等级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部分完成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compact、旋转键裁剪、掩码复用实测；去掉规划器（单价推算）；Delphi 作 GC 基线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去掉客户端感知待 conv3 实测；离线缓存、截断组件不存在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E8 设备异构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找盈亏点：慢多少倍、网络 / 内存差到多少才改选择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部分完成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/ Pi5 两个实测锚点（Pi5 慢 4.1×，选择相同）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算力 / 网络 / 内存三向扫描待补测；hybrid 内存增量、Pi4 缺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E9 极端网络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丢包 / 抖动下的放大倍数（netem 实测）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C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只保留往返次数（s11 14 次）；解析模型结果已撤回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netem 网格全部待测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E10 泄漏量化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H6：新鲜掩码≈随机，复用泄露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部分完成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E10a（复用 / 新鲜掩码 M2 v2）3 数据集×5 种子；E10b 采样混淆已修，本机初测仅索引≈随机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E10b 旧 AUC 撤回待重跑；E10c 实测暂缓（仍是估算）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138928"/>
            <a:ext cx="3657600" cy="12618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5193792"/>
            <a:ext cx="34290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2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硬件</a:t>
            </a:r>
            <a:endParaRPr lang="zh-CN" sz="12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x86 24 核（99 号机 / 远程容器 101，101 带 RTX 4090）：密文推理、训练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Raspberry Pi 5（A76 2.4 GHz, 8 GB）：客户端实测，performance 调度、关 swap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Kaggle T4 / RTX 4090：深网训练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270248" y="5138928"/>
            <a:ext cx="4023360" cy="1261872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407408" y="5193792"/>
            <a:ext cx="379476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2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软件</a:t>
            </a:r>
            <a:endParaRPr lang="zh-CN" sz="12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SEAL 4.1.2 + 自研绑定 litepi_seal（CKKS，含新线格式）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SCI / CrypTFlow2 + 绑定 litepi_sci（ReLU）；PyTorch 2.x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CKKS：N=8192，[40,21×6,40]，2^21，logQ=206 ≤ 218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Delphi 官方实现（SEAL 3.6.5，BFV）：仅作对照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449056" y="5138928"/>
            <a:ext cx="3300984" cy="1261872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586216" y="5193792"/>
            <a:ext cx="3072384" cy="90043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2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与方案不一致 / 尚缺</a:t>
            </a:r>
            <a:endParaRPr lang="zh-CN" sz="12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TenSEAL 只作对照；运行时是 litepi_sci，不是远端部署的 CrypTFlow2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未就绪：EMP-toolkit（GC 路线）、USB 功率计、Pi4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数据来源：MrWangneverplay/LitePI @ sci-backend 50043d7；docs/实验数据审计.md、docs/审阅_P1P2代码_2026-10-29.md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 精度验证：实验目的与实验思路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检验 H1，并按方案原则 4 给出三档精度与 ΔAcc 分解；同时确认密文计算本身不引入额外精度损失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42793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对应假设 H1：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Adaptive 调度的精度 ≥ 全多项式 HE-only，并接近全 Hybrid（全精确 ReLU）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三档精度（方案 §3.2.3 原则 4）：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明文 ReLU / 明文多项式 / 密文；三者之差就是“多项式近似损失”和“密文量化损失”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ΔAcc 分解（方案 E1 产出）：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多项式损失 + 量化（密文）损失 + 调度损失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协议依据：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协议设计 §1.3——Hybrid 只在“ReLU 孪生网”上才有意义：同一模型上 P₂ 近似与精确 MPC ReLU 才构成可调度的两端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8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验收标准：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 方法 × 3 数据集；同一超参；5 个种子 mean ± std（方案 §7 E1、§8）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200"/>
              </a:spcAft>
            </a:pPr>
            <a:r>
              <a:rPr lang="zh-CN" sz="12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三个 canonical 网络（K = 2 个非线性层）</a:t>
            </a:r>
            <a:endParaRPr lang="zh-CN" sz="12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MNIST 1×28×28：Conv(4,7×7,s3) → n₁=256 → FC 64 → 10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CIFAR-10 灰度 1×32×32：Conv(12,5×5,s3) → 1200 → 128 → 10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UCI-HAR 1×128×9：Conv(12,3×9,s(2,1)) → 756 → 128 → 6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1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CKKS：N=8192，[40,21×6,40]，scale 2^21，深度 5 / 预算 6</a:t>
            </a:r>
            <a:endParaRPr lang="zh-CN" sz="11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实验思路：怎么实现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44768" y="205740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按调度训练：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s∈{00,01,10,11}，s_k=0 用 P₂(z)=0.0625+0.5z+0.5z²，s_k=1 用 ReLU；每个调度独立训练 5 种子（73–77）。s11 即 ReLU 孪生网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760720" y="27340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44768" y="269748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明文精度：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全测试集（MNIST/CIFAR 10,000，UCI 2,947）逐种子测，得 mean±std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60720" y="31912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44768" y="3154680"/>
            <a:ext cx="5422392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密文推理（完整协议）：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SEAL 4.1.2 + SCI，客户端 im2col+加密 → 服务端 HE 线性层 → s_k=1 层走 SCI ReLU → 客户端解密；3×4×5 = 60 组，每组 64 个随机样本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760720" y="4014215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44768" y="3977639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一致率：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对同一批样本补算明文预测，逐样本比对密文 argmax（compute_agreement.py），这是密文侧唯一可靠的指标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760720" y="465429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44768" y="461772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Adaptive：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 4 个调度中按“精度 ≥ 最优 − 1 点”约束取时延最低者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5760720" y="511149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44768" y="507492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孪生替换：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固定 s11 权重，把某层 ReLU 直接换成 P₂（不重训），量化“不重训”的代价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脚本：analysis/train_hybrid.py、eval_hybrid_accuracy.py、compute_agreement.py、eval_twin_substitution.py、adaptive_eval.py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 实验数据：明文 / 密文精度、ΔAcc 分解与孪生替换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密文计算本身达标（一致率 99.69–100%）；但在浅层 canonical 网上，P₂ 训练的 HE-only 并不比 ReLU 差，Hybrid 的精度价值没有体现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69494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canonical 网络明文精度（全测试集，5 种子，%）与密文一致率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27632"/>
          <a:ext cx="6949440" cy="14630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914400"/>
                <a:gridCol w="1051560"/>
                <a:gridCol w="914400"/>
                <a:gridCol w="914400"/>
                <a:gridCol w="1097280"/>
                <a:gridCol w="960120"/>
                <a:gridCol w="109728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数据集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s00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两层多项式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s01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多项式+ReLU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s10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ReLU+多项式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s11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两层 ReLU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自适应选中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调度 · 精度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密文=明文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一致率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97.97 ± 0.29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97.90 ± 0.11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97.89 ± 0.20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97.71 ± 0.09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s00 · 97.97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100%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60.59 ± 0.49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59.36 ± 0.77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62.80 ± 0.77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58.60 ± 0.46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s10 · 62.80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99.69–100%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90.34 ± 0.93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88.67 ± 1.12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90.81 ± 0.51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89.75 ± 0.99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s00 · 90.34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99.69–100%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20000"/>
            <a:ext cx="6949440" cy="56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85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s00 = 两层都用多项式（纯同态）；s01 = 第 1 层多项式、第 2 层 ReLU；s10 = 反过来；s11 = 两层都用 ReLU（全混合）。损失列 = ReLU 版 − 多项式版 / 密文 − 明文 / 自适应 − 最优（负数 = 多项式版反而不低于 ReLU 版）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85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HE-only 密文精度另测：MNIST 97.74 ± 0.18（5×1000）；CIFAR 58.70 ± 3.25、UCI 84.90 ± 1.64（5×200，取测试集前 200 条；UCI 样本有偏，需分层重测）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3700000"/>
            <a:ext cx="69494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精度损失分解（百分点；负数 = 多项式版反而不低于 ReLU 版）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4000000"/>
          <a:ext cx="6949436" cy="138988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097279"/>
                <a:gridCol w="1828799"/>
                <a:gridCol w="2011679"/>
                <a:gridCol w="201167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数据集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换成多项式的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精度损失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加密带来的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精度损失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调度选择带来的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精度损失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−0.26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−1.99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≤ 0.31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−0.59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≤ 0.31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−0.47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635240" y="1325880"/>
            <a:ext cx="41148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3  不重训，直接把某层换成多项式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635240" y="1627632"/>
          <a:ext cx="4114797" cy="15087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816688"/>
                <a:gridCol w="753925"/>
                <a:gridCol w="772092"/>
                <a:gridCol w="772092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两层激活组合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ReLU / ReLU（孪生基线）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97.71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58.60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89.75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ReLU / P₂（换第二层）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81.22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48.15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84.74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P₂ / ReLU（换第一层）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51.59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23.42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63.70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P₂ / P₂（两层都换）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31.65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14.43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53.59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2" name="Verdict"/>
          <p:cNvSpPr/>
          <p:nvPr/>
        </p:nvSpPr>
        <p:spPr>
          <a:xfrm>
            <a:off x="457200" y="5577840"/>
            <a:ext cx="11292840" cy="86868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0080" y="5669279"/>
            <a:ext cx="21031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2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2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Verdict pill"/>
          <p:cNvSpPr/>
          <p:nvPr/>
        </p:nvSpPr>
        <p:spPr>
          <a:xfrm>
            <a:off x="640080" y="603504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部分达到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43200" y="5605272"/>
            <a:ext cx="8869680" cy="55181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达到：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密文正确性（60 组一致率 99.69–100%，密文−明文 ≤ 0.31 点）；三档精度齐全；自适应调度损失 ≤ 0.47 点。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未达到：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H1 只是形式上成立——自适应在 MNIST/UCI 直接选了 0 交互的 s00。混合调度的精度增益只在深网出现（VGG 中 ReLU−多项式 = +1.95/+4.98/+6.05 点），而深网还没有密文实现。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数据：results/raw_results/E1/*/hybrid_s{00,01,10,11}/、*_acc_seal/、he_only_ciphertext_seal/、twin_substitution/；results/agreement/summary.json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E2 客户端开销：实验目的与实验思路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检验 H2：在真实 ARM 设备上，LitePI 客户端每次查询只付毫秒级计算、可承受的内存，并显著低于 Delphi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42793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对应假设 H2：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LitePI 客户端在线时间 / 内存显著低于 Delphi 复现版（论文核心图 Fig. 9 + Table 6）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六项客户端指标（方案 §6.1）：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T_encode、T_enc、T_dec、T_post、RSS 峰值 M_peak、能耗 E_client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协议设计 §10 的“硬数字”：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s=00 时客户端只做 1 次加密 + 1 次解密；每个 hybrid 层再加 1 次解密 + SCI 客户端 + 1 次再加密；旋转/重线性化 0 次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内存怎么测：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服务端与客户端分进程，只读客户端进程自己的峰值内存；客户端进程只导入 numpy 与 litepi_seal（含 SCI 运行时），可连远端服务端（--server host:port）；评估密钥逐个生成、发完即释放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验收标准：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 档设备 × 5 方法；每点 ≥5 种子；预热 3 次；固定 CPU 频率、禁 swap；Delphi 复现版补测客户端指标（方案 §7 E2、§8）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实验思路：怎么实现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44768" y="2057400"/>
            <a:ext cx="5422392" cy="9326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客户端流水线计时：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输入 x → im2col 编码（T_encode）→ CKKS 加密（T_enc）→ 上传 M1 → … → 解密 M3（T_dec）→ argmax（T_post）。im2col 编码与加密在同一次调用里，T_encode = (编码+加密) − 加密标定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760720" y="309981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44768" y="306324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测量方式：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计时用 eval_client_overhead.py（每种子 25 次，预热 3 次）；内存改用 measure_client_memory.py：服务端与客户端分进程，只读客户端自己的峰值内存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60720" y="373989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44768" y="370332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设备：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x86 24 核（MNIST 在 99 号机、CIFAR/UCI 在 101 号机）与 Raspberry Pi 5（governor=performance、swapoff），3 数据集 × 5 种子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760720" y="4379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44768" y="434340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Hybrid 层增量：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从 E1 的 60 组完整协议记录中拆出每个 hybrid 层的客户端解密、SCI ReLU、再加密耗时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760720" y="50200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44768" y="498348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通信同时落盘：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S_up / S_down / S_key 逐字节记录，供 E3/E4 复用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脚本：analysis/eval_client_overhead.py、measure_client_memory.py、client_metrics.py；Pi5 运行记录见审计 §9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E2 实验数据：x86 与树莓派 5 的客户端六项指标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Pi5 上客户端每次查询约 20 ms 计算（HE-only），是 x86 的约 4.7 倍；客户端峰值内存约 111–113 MB，约为 Delphi 客户端（347 MiB）的 1/3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72237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HE-only（s=00）客户端指标，每行 5 种子 × 25 次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27632"/>
          <a:ext cx="7223757" cy="211226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611453"/>
                <a:gridCol w="1444750"/>
                <a:gridCol w="1000212"/>
                <a:gridCol w="944645"/>
                <a:gridCol w="944645"/>
                <a:gridCol w="1278049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设备 · 数据集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输入编码+加密耗时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加密耗时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解密耗时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结果后处理耗时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服务器计算耗时（参考）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· MNIST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3.84 ± 0.06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3.77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0.36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0.014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4.06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· CIFAR-10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4.70 ± 2.15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4.80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0.44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0.020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19.31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· UCI-HAR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4.44 ± 1.51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4.78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0.41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0.021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15.05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Pi5 · MNIST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18.47 ± 0.04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17.91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1.71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0.027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26.11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Pi5 · CIFAR-10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18.41 ± 0.08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17.88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1.76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0.027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99.74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Pi5 · UCI-HAR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18.55 ± 0.04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17.82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1.70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0.027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80.35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794760"/>
            <a:ext cx="72237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Hybrid 层的客户端增量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069080"/>
          <a:ext cx="7223760" cy="132588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4754880"/>
                <a:gridCol w="2468880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每个 hybrid 层多出来的客户端开销（x86/101，60 组均值）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数值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客户端解密（得到带掩码的份额 z+r）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≈ 6–7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SCI ReLU（双方同机墙钟，256–1200 元素）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≈ 10–12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客户端再加密（把 ReLU 结果送回密文）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≈ 5–5.5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客户端上行 / 下行增加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917,625 B / 524–787 KB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909560" y="3650000"/>
            <a:ext cx="3840480" cy="594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通信（与设备、种子无关）：每次上传 917,625 B · 下载 262,265 B · 一次性密钥 184,634,920 B（≈176 MiB；实测 Wi-Fi 约 36 s）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Verdict"/>
          <p:cNvSpPr/>
          <p:nvPr/>
        </p:nvSpPr>
        <p:spPr>
          <a:xfrm>
            <a:off x="457200" y="5486400"/>
            <a:ext cx="11292840" cy="941832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5577840"/>
            <a:ext cx="210312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2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2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Verdict pill"/>
          <p:cNvSpPr/>
          <p:nvPr/>
        </p:nvSpPr>
        <p:spPr>
          <a:xfrm>
            <a:off x="640080" y="594360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部分达到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43200" y="5513832"/>
            <a:ext cx="8869680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达到：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客户端在线计算在 Pi5 上仍是毫秒级，协议“客户端 1 次加密 + 1 次解密、0 次旋转”的计数成立；15/15 组 Pi5 数据齐全。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内存：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客户端峰值 112.6 MB（s00）/ 111.0 MB（s11），约为 Delphi 客户端 347 MiB（7 层多项式）的 1/3、2911 MiB（全 ReLU）的 1/27，H2 的内存一侧成立。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仍未达到：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能耗未测；Pi5 未测 hybrid 层。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数据：results/raw_results/E2/*/litepi_seal/、E2_pi5/*/litepi_seal/seed73–77、E1/*/hybrid_s*_acc_seal/（逐样本计时）；E_delphi/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"/>
          <p:cNvSpPr txBox="1"/>
          <p:nvPr/>
        </p:nvSpPr>
        <p:spPr>
          <a:xfrm>
            <a:off x="7909560" y="1325880"/>
            <a:ext cx="384048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3  客户端内存（x86 · MNIST）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17" name="Table 内存"/>
          <p:cNvGraphicFramePr>
            <a:graphicFrameLocks noGrp="1"/>
          </p:cNvGraphicFramePr>
          <p:nvPr/>
        </p:nvGraphicFramePr>
        <p:xfrm>
          <a:off x="7909560" y="1650000"/>
          <a:ext cx="3840480" cy="1140000"/>
        </p:xfrm>
        <a:graphic>
          <a:graphicData uri="http://schemas.openxmlformats.org/drawingml/2006/table">
            <a:tbl>
              <a:tblPr firstRow="1"/>
              <a:tblGrid>
                <a:gridCol w="560000"/>
                <a:gridCol w="1000000"/>
                <a:gridCol w="1000000"/>
                <a:gridCol w="1280480"/>
              </a:tblGrid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调度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峰值内存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密钥生成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+ 上传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Delphi 客户端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s00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112.6 MB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0.9 s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347 MiB（7 层）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s11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111.0 MB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0.9 s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2911 MiB（全 ReLU）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8" name="TextBox"/>
          <p:cNvSpPr txBox="1"/>
          <p:nvPr/>
        </p:nvSpPr>
        <p:spPr>
          <a:xfrm>
            <a:off x="7909560" y="2850000"/>
            <a:ext cx="3840480" cy="86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服务端与客户端分进程运行，只读客户端进程自己的峰值内存；客户端含 SCI 运行时，每会话 2 次查询。评估密钥逐个生成、发完即释放，同一时刻最多只有 1 个约 7 MB 的密钥在内存里。</a:t>
            </a:r>
            <a:endParaRPr lang="zh-CN" sz="9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E2 对照组：Delphi 官方实现复现，与 LitePI 并列对比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客户端负担三项全面低于 Delphi：耗时 4–20 ms vs 约 20 s、内存 112 MB vs 347 MiB、通信 1.13 MiB vs 123 MiB——减少交互没有让客户端变重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数据：results/E_delphi/（delphi_minionn_summary.csv、DELPHI_BASELINE.md §6.4）；LitePI 侧见 E2/E4。Delphi 在 Core Ultra 5 125H 的 WSL2 上、4 线程、同机回环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"/>
          <p:cNvSpPr txBox="1"/>
          <p:nvPr/>
        </p:nvSpPr>
        <p:spPr>
          <a:xfrm>
            <a:off x="457200" y="1325880"/>
            <a:ext cx="63000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Delphi（CIFAR-10 MiniONN）复现结果，每档 5 次独立运行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17" name="Table Delphi"/>
          <p:cNvGraphicFramePr>
            <a:graphicFrameLocks noGrp="1"/>
          </p:cNvGraphicFramePr>
          <p:nvPr/>
        </p:nvGraphicFramePr>
        <p:xfrm>
          <a:off x="457200" y="1650000"/>
          <a:ext cx="6370000" cy="1500000"/>
        </p:xfrm>
        <a:graphic>
          <a:graphicData uri="http://schemas.openxmlformats.org/drawingml/2006/table">
            <a:tbl>
              <a:tblPr firstRow="1"/>
              <a:tblGrid>
                <a:gridCol w="1250000"/>
                <a:gridCol w="880000"/>
                <a:gridCol w="880000"/>
                <a:gridCol w="800000"/>
                <a:gridCol w="800000"/>
                <a:gridCol w="880000"/>
                <a:gridCol w="88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多项式激活层数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（其余用 ReLU）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客户端离线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耗时 (s)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客户端在线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耗时 (s)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离线通信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(MiB)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在线通信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(MiB)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客户端内存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峰值 (MiB)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服务器内存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峰值 (MiB)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0（全 ReLU）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29.3 ± 1.3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3.33 ± 0.15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3240.0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196.4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2911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5377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23.8 ± 0.8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1.88 ± 0.05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1464.8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88.8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1557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3135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20.3 ± 0.4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0.95 ± 0.02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485.6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29.3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627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1942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7（官方最佳）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19.3 ± 0.3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0.81 ± 0.03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116.4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6.93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347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1440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</a:tr>
            </a:tbl>
          </a:graphicData>
        </a:graphic>
      </p:graphicFrame>
      <p:sp>
        <p:nvSpPr>
          <p:cNvPr id="18" name="TextBox"/>
          <p:cNvSpPr txBox="1"/>
          <p:nvPr/>
        </p:nvSpPr>
        <p:spPr>
          <a:xfrm>
            <a:off x="457200" y="3700000"/>
            <a:ext cx="63000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3  客户端负担对比：每次推理（LitePI 纯同态 s00 vs Delphi 7 层最佳配置）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19" name="Table 负担"/>
          <p:cNvGraphicFramePr>
            <a:graphicFrameLocks noGrp="1"/>
          </p:cNvGraphicFramePr>
          <p:nvPr/>
        </p:nvGraphicFramePr>
        <p:xfrm>
          <a:off x="457200" y="4000000"/>
          <a:ext cx="6370000" cy="1200000"/>
        </p:xfrm>
        <a:graphic>
          <a:graphicData uri="http://schemas.openxmlformats.org/drawingml/2006/table">
            <a:tbl>
              <a:tblPr firstRow="1"/>
              <a:tblGrid>
                <a:gridCol w="1250000"/>
                <a:gridCol w="1750000"/>
                <a:gridCol w="2000000"/>
                <a:gridCol w="1370000"/>
              </a:tblGrid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客户端负担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LitePI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Delphi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LitePI 优势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客户端耗时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4–20 ms（x86 / Pi5）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约 20.1 s（离线 + 在线）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约 1/1000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客户端峰值内存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112.6 MB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347 MiB（全 ReLU 2911）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约 1/3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每次推理通信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1.13 MiB（compact 0.30）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123.3 MiB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约 1/110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</a:tr>
            </a:tbl>
          </a:graphicData>
        </a:graphic>
      </p:graphicFrame>
      <p:sp>
        <p:nvSpPr>
          <p:cNvPr id="20" name="TextBox"/>
          <p:cNvSpPr txBox="1"/>
          <p:nvPr/>
        </p:nvSpPr>
        <p:spPr>
          <a:xfrm>
            <a:off x="457200" y="3200000"/>
            <a:ext cx="6300000" cy="48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5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离线阶段每次推理都要重做（预处理与输入无关可提前做，但不可免；只有 Keygen 376.5 ms 可复用）：7 层配置每次约 20.1 s / 123 MiB，全 ReLU 约 32.6 s / 3.4 GiB。官方模型明文精度 82.95%（本机 100 张复算 82.0%）。</a:t>
            </a:r>
            <a:endParaRPr lang="zh-CN" sz="95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"/>
          <p:cNvSpPr txBox="1"/>
          <p:nvPr/>
        </p:nvSpPr>
        <p:spPr>
          <a:xfrm>
            <a:off x="6950000" y="1325880"/>
            <a:ext cx="48000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并列对比：每次推理 / 客户端侧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22" name="Table 并列"/>
          <p:cNvGraphicFramePr>
            <a:graphicFrameLocks noGrp="1"/>
          </p:cNvGraphicFramePr>
          <p:nvPr/>
        </p:nvGraphicFramePr>
        <p:xfrm>
          <a:off x="6950000" y="1650000"/>
          <a:ext cx="4800000" cy="2960000"/>
        </p:xfrm>
        <a:graphic>
          <a:graphicData uri="http://schemas.openxmlformats.org/drawingml/2006/table">
            <a:tbl>
              <a:tblPr firstRow="1"/>
              <a:tblGrid>
                <a:gridCol w="1250000"/>
                <a:gridCol w="1300000"/>
                <a:gridCol w="1230000"/>
                <a:gridCol w="1020000"/>
              </a:tblGrid>
              <a:tr h="3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指标</a:t>
                      </a:r>
                      <a:endParaRPr lang="zh-CN" sz="8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Delphi</a:t>
                      </a:r>
                      <a:endParaRPr lang="zh-CN" sz="8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（7 层多项式，最佳）</a:t>
                      </a:r>
                      <a:endParaRPr lang="zh-CN" sz="8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LitePI 纯同态</a:t>
                      </a:r>
                      <a:endParaRPr lang="zh-CN" sz="8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（s00，x86）</a:t>
                      </a:r>
                      <a:endParaRPr lang="zh-CN" sz="8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LitePI</a:t>
                      </a:r>
                      <a:endParaRPr lang="zh-CN" sz="8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compact 线格式</a:t>
                      </a:r>
                      <a:endParaRPr lang="zh-CN" sz="8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每次推理总通信</a:t>
                      </a:r>
                      <a:endParaRPr lang="zh-CN" sz="8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123.3 MiB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（离线 116.4 + 在线 6.9）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1.13 MiB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0.30 MiB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逐次预处理</a:t>
                      </a:r>
                      <a:endParaRPr lang="zh-CN" sz="8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有，每次推理重做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（19.3 s、116 MiB）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无（只有一次性 Setup）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无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一次性密钥</a:t>
                      </a:r>
                      <a:endParaRPr lang="zh-CN" sz="8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随每次离线重做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176 MiB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45.5 MiB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客户端本地计算</a:t>
                      </a:r>
                      <a:endParaRPr lang="zh-CN" sz="8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在线 0.81 s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（含等服务器）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加解密约 4–5 ms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（Pi5 约 20 ms）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整机端到端</a:t>
                      </a:r>
                      <a:endParaRPr lang="zh-CN" sz="8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约 20 s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（离线 19.3 + 在线 0.8）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4.7 / 18 / 14.9 s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（MNIST/CIFAR/UCI）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同左（未测）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客户端内存峰值</a:t>
                      </a:r>
                      <a:endParaRPr lang="zh-CN" sz="8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347 MiB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（全 ReLU 2911 MiB）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112.6 MB（s00）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111.0 MB（s11）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8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明文精度</a:t>
                      </a:r>
                      <a:endParaRPr lang="zh-CN" sz="8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82.95%（MiniONN）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97.97 / 60.59 / 90.34%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（各自 canonical 网）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8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</a:t>
                      </a:r>
                      <a:endParaRPr lang="zh-CN" sz="8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Verdict"/>
          <p:cNvSpPr/>
          <p:nvPr/>
        </p:nvSpPr>
        <p:spPr>
          <a:xfrm>
            <a:off x="457200" y="5330000"/>
            <a:ext cx="11292840" cy="1070000"/>
          </a:xfrm>
          <a:prstGeom prst="roundRect">
            <a:avLst>
              <a:gd name="adj" fmla="val 6000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"/>
          <p:cNvSpPr txBox="1"/>
          <p:nvPr/>
        </p:nvSpPr>
        <p:spPr>
          <a:xfrm>
            <a:off x="640080" y="5421440"/>
            <a:ext cx="2200000" cy="33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Verdict pill"/>
          <p:cNvSpPr/>
          <p:nvPr/>
        </p:nvSpPr>
        <p:spPr>
          <a:xfrm>
            <a:off x="640080" y="5810000"/>
            <a:ext cx="2103120" cy="32000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达到（系统级对比）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"/>
          <p:cNvSpPr txBox="1"/>
          <p:nvPr/>
        </p:nvSpPr>
        <p:spPr>
          <a:xfrm>
            <a:off x="2957200" y="5390000"/>
            <a:ext cx="8642840" cy="97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达到：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客户端负担三项都低于 Delphi——耗时约 1/1000、内存约 1/3（全 ReLU 时 1/27）、通信约 1/110（compact 约 1/415），且不需要逐次预处理；H2（时间、内存）与 H4（通信）成立。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注意：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① 两边模型、HE 方案、设备不同，属系统级对比；② Delphi 的耗时是客户端墙钟（含等待服务器），LitePI 是客户端本地计算；③ 精度差 22 点是因为模型不同，不能据此比时延。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E3 低交互价值：实验目的与实验思路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检验 H3：网络 RTT 越大，少交互的好处越明显，Planner 选出的 hybrid 层数 K_h 应随 RTT 单调下降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210121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对应假设 H3：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高 RTT 下 LitePI 的端到端延迟优势随 RTT 增大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方案设计：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RTT ∈ {1, 5, 20, 50, 100, 200} ms × 带宽 ∈ {10, 50, 100} Mbps × 3 协议模式 + Delphi，用 tc/netem 注入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产出：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Fig. 6（RTT–端到端时间曲线族）+ 各 RTT 点规划器选出的 K_h；交叉点就是“何时值得交互”的答案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协议依据：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往返次数 R = 2 + K_h·r_h（协议设计 §7.1），设计目标 r_h = 1（OT 响应与再加密同轮合并）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验收：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RTT↑ 时自适应的 K_h 单调下降，最终退化为纯同态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endParaRPr lang="zh-CN" sz="1200" b="0" i="0">
              <a:solidFill>
                <a:srgbClr val="D64545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实验思路：为什么用解析模型、怎么算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44768" y="205740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输入取实测：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E2 五种子聚合（CIFAR/UCI 剔除并发污染的 seed73）+ E4 每 hybrid 层 1410.2 KB + E1 中 SCI 每层 48.6 ms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760720" y="27340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44768" y="269748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网格计算：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 数据集 × 3 调度（s00/s10/s11）× 6 RTT × 3 带宽，共 162 个点（rtt_sensitivity.py）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60720" y="31912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44768" y="315468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r_h 实测、曲线仍是模型：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往返数 r_h 已用 netem 回环实测（6.02）；完整 netem 全网格（216 点）本轮暂缓，所以曲线用实测 r_h 代入解析模型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760720" y="383133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44768" y="379476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Adaptive 判定：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 5% 时延余量内能买下几层 hybrid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760720" y="4270248"/>
            <a:ext cx="5806440" cy="14173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897880" y="4315968"/>
            <a:ext cx="557784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解析模型（输入全部来自实测）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050" b="0" i="0">
                <a:solidFill>
                  <a:srgbClr val="1B2A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L_e2e(s) = T_client(s) + T_server(s) + (2 + K_h·r_h)·RTT + bytes(s) / BW，r_h = 6.02</a:t>
            </a:r>
            <a:endParaRPr lang="zh-CN" sz="1050" b="0" i="0">
              <a:solidFill>
                <a:srgbClr val="1B2A4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050" b="0" i="0">
                <a:solidFill>
                  <a:srgbClr val="1B2A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T_server(s) = T_server(00) + K_h × 48.6 ms（SCI 实测）</a:t>
            </a:r>
            <a:endParaRPr lang="zh-CN" sz="1050" b="0" i="0">
              <a:solidFill>
                <a:srgbClr val="1B2A4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100"/>
              </a:spcAft>
            </a:pPr>
            <a:r>
              <a:rPr lang="zh-CN" sz="1050" b="0" i="0">
                <a:solidFill>
                  <a:srgbClr val="1B2A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bytes(s) = 上传 + 下载 + K_h × 1410.2 KB（E4 实测）</a:t>
            </a:r>
            <a:endParaRPr lang="zh-CN" sz="1050" b="0" i="0">
              <a:solidFill>
                <a:srgbClr val="1B2A4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0" i="0">
                <a:solidFill>
                  <a:srgbClr val="1B2A4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自适应：取最大 K_h，使 L_e2e ≤ 1.05 × L_e2e(s=00)</a:t>
            </a:r>
            <a:endParaRPr lang="zh-CN" sz="1050" b="0" i="0">
              <a:solidFill>
                <a:srgbClr val="1B2A4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脚本：analysis/rtt_sensitivity.py、netem_e2e.py；输出 results/raw_results/E3/、results/rounds/；审计 §12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12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r_h 实测：每个 hybrid 层多花多少次网络往返？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25463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端到端实测 r_h ≈ 6.02（3 个数据集一致）：1 次 ①/② 交换 + SCI 内部约 5.02 次往返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数据：results/rounds/r_h_netem_{mnist,uci_har,cifar10}.json；results/raw_results/E3/desktop/netem_*；analysis/netem_e2e.py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13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Card 方法"/>
          <p:cNvSpPr/>
          <p:nvPr/>
        </p:nvSpPr>
        <p:spPr>
          <a:xfrm>
            <a:off x="457200" y="1417320"/>
            <a:ext cx="4300000" cy="4960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607200" y="1480000"/>
            <a:ext cx="4000000" cy="33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怎么测的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"/>
          <p:cNvSpPr txBox="1"/>
          <p:nvPr/>
        </p:nvSpPr>
        <p:spPr>
          <a:xfrm>
            <a:off x="607200" y="1850000"/>
            <a:ext cx="4000000" cy="4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网络：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本机回环 + tc/netem，只加固定时延、不限速；RTT = 1/5/20/50/100 ms；每点先预热 1 次再采样 4 次。回环上 netem 双向生效，配置 D ms 实际加 2D ms，拟合时已除回。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拆开算：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跑纯同态(s00)和有 hybrid 的调度，用“客户端 SCI 耗时”随 RTT 的斜率除以 hybrid 层数，得到每层 SCI 内部往返数；r_h = 1（①/② 交换）+ SCI 往返。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为什么不直接用总耗时斜率：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密文约 0.9 MB，TCP 慢启动会把额外 RTT 算到 hybrid 头上；已关闭 slow-start-after-idle 并只作交叉验证。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口径提醒：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运行时是 litepi_sci（SCI），不是远端部署的 CrypTFlow2；环境是回环，不含真实链路抖动；“1”只是主通道消息计数。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"/>
          <p:cNvSpPr txBox="1"/>
          <p:nvPr/>
        </p:nvSpPr>
        <p:spPr>
          <a:xfrm>
            <a:off x="4950000" y="1325880"/>
            <a:ext cx="68000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三个数据集的往返数实测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23" name="Table r_h"/>
          <p:cNvGraphicFramePr>
            <a:graphicFrameLocks noGrp="1"/>
          </p:cNvGraphicFramePr>
          <p:nvPr/>
        </p:nvGraphicFramePr>
        <p:xfrm>
          <a:off x="4950000" y="1650000"/>
          <a:ext cx="6800840" cy="1600000"/>
        </p:xfrm>
        <a:graphic>
          <a:graphicData uri="http://schemas.openxmlformats.org/drawingml/2006/table">
            <a:tbl>
              <a:tblPr firstRow="1"/>
              <a:tblGrid>
                <a:gridCol w="1100000"/>
                <a:gridCol w="1250000"/>
                <a:gridCol w="1250000"/>
                <a:gridCol w="1200000"/>
                <a:gridCol w="1000000"/>
                <a:gridCol w="1000840"/>
              </a:tblGrid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数据集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每层往返 r_h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（本文报告值）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SCI 内部往返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/ 层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总耗时斜率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（交叉验证）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纯同态 s00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总往返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全混合 s11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总往返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6.025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5.014–5.039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5.35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2.56 ± 0.39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11.12 ± 1.46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6.018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5.012–5.022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5.77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0.85 ± 0.70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11.73 ± 2.89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6.022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5.013–5.029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2.32（不吻合）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3.86 ± 1.24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8.13 ± 2.63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4950000" y="3500000"/>
          <a:ext cx="3500000" cy="285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Verdict"/>
          <p:cNvSpPr/>
          <p:nvPr/>
        </p:nvSpPr>
        <p:spPr>
          <a:xfrm>
            <a:off x="8650000" y="3500000"/>
            <a:ext cx="3100000" cy="285000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"/>
          <p:cNvSpPr txBox="1"/>
          <p:nvPr/>
        </p:nvSpPr>
        <p:spPr>
          <a:xfrm>
            <a:off x="8832880" y="3591440"/>
            <a:ext cx="2734240" cy="33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Verdict pill"/>
          <p:cNvSpPr/>
          <p:nvPr/>
        </p:nvSpPr>
        <p:spPr>
          <a:xfrm>
            <a:off x="8832880" y="3930000"/>
            <a:ext cx="2103120" cy="300000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实测完成（有保留）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"/>
          <p:cNvSpPr txBox="1"/>
          <p:nvPr/>
        </p:nvSpPr>
        <p:spPr>
          <a:xfrm>
            <a:off x="8832880" y="4300000"/>
            <a:ext cx="2734240" cy="144716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结论：</a:t>
            </a: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每层 SCI 往返约 5.02 次，3 个数据集差 &lt;0.03（标准误 0.003–0.009）；纯 SCI 独立扫描（一次只做 1 个 ReLU、无 HE）为 5.01 ± 0.00，互相印证。</a:t>
            </a:r>
            <a:endParaRPr lang="zh-CN" sz="9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9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影响：</a:t>
            </a: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全混合 s11 = 2 + 2×6.02 = 14 次往返，是设计值 4 的 3.5 倍；“低交互”卖点要落在字节与客户端无逐次预处理上。</a:t>
            </a:r>
            <a:endParaRPr lang="zh-CN" sz="9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9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保留：</a:t>
            </a: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CIFAR 的总耗时斜率（2.3）与 6.02 差 &gt;1，服务器前向 17 s 淹没了 RTT 项，待</a:t>
            </a: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重测</a:t>
            </a:r>
            <a:endParaRPr lang="zh-CN" sz="9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E3 实验数据：RTT 扫描、每层边际代价与 Adaptive 选择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用实测 r_h = 6.02 重算：50/100 Mbps 下 RTT 越大越少用 hybrid（H3 得到支持）；10 Mbps 下仍由字节而非 RTT 决定，K_h* 恒为 0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98448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06440" y="1325880"/>
            <a:ext cx="27432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每多一层 hybrid 的代价 (ms)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06440" y="1627632"/>
          <a:ext cx="2743198" cy="164592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719527"/>
                <a:gridCol w="674557"/>
                <a:gridCol w="674557"/>
                <a:gridCol w="674557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RTT (ms)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带宽 10 Mbps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50 Mbps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100 Mbps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1165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241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1280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356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240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1461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536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421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1762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838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722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200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2364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1440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1325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08345" y="3310128"/>
            <a:ext cx="27432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5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= 6.02 × RTT + 4.0 ms（解密+再加密）+ 1410.2 KB ÷ 带宽</a:t>
            </a:r>
            <a:endParaRPr lang="zh-CN" sz="95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32520" y="1325880"/>
            <a:ext cx="301752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自适应选的 hybrid 层数 K_h*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732520" y="1627632"/>
          <a:ext cx="3017518" cy="117043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640000"/>
                <a:gridCol w="790000"/>
                <a:gridCol w="790000"/>
                <a:gridCol w="797518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数据集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 Mbps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50 Mbps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100 Mbps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 → 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 → 1 → 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 → 1 → 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 → 1 → 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 → 1 → 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732520" y="2860000"/>
            <a:ext cx="3017520" cy="9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“→”：RTT 从 1 增到 200 ms 时 K_h* 依次下降；CIFAR/UCI 在 50、100 Mbps 下 2→1→0；MNIST 只在 100 Mbps、RTT≤5 ms 时买得下 1 层。</a:t>
            </a:r>
            <a:endParaRPr lang="zh-CN" sz="9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4462272"/>
            <a:ext cx="5120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3  网络开销占端到端时间的比例（10 Mbps，3 数据集区间）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736592"/>
          <a:ext cx="5120640" cy="102412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828800"/>
                <a:gridCol w="1645920"/>
                <a:gridCol w="164592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 Mbps 下的网络占比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RTT = 1 ms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RTT = 200 ms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纯同态 s00（2 次往返）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5.7–18.9%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8.0–24.8%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全混合 s11（14 次往返）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17.0–43.2%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27.7–58.7%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其中仅“往返等待”部分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0.1–0.2%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13.0–27.5%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Verdict"/>
          <p:cNvSpPr/>
          <p:nvPr/>
        </p:nvSpPr>
        <p:spPr>
          <a:xfrm>
            <a:off x="5806440" y="3931920"/>
            <a:ext cx="5943600" cy="246888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Verdict pill"/>
          <p:cNvSpPr/>
          <p:nvPr/>
        </p:nvSpPr>
        <p:spPr>
          <a:xfrm>
            <a:off x="5989320" y="4078224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部分达到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0" y="4059935"/>
            <a:ext cx="333756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89320" y="4498848"/>
            <a:ext cx="5577840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达到：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用实测 r_h 后，CIFAR/UCI 在 50/100 Mbps 下 K_h* 随 RTT 单调下降（2→1→0），H3 方向成立。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仍弱：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 Mbps 下每层要多传 1410 KB（≈1155 ms），远大于 RTT 项，K_h* 恒为 0；MNIST 几乎不出现 hybrid。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口径：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全混合的往返从设计的 4 次变为 14 次；RTT=200 ms 时“往返等待”占端到端的 13–28%，不再可忽略。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缺口：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曲线是模型值；E3 全网格 216 点 netem 暂缓；无 Delphi 曲线（其在线往返数未计）。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左图：50 Mbps 下按模型计算（每层额外时延 = 6.02×RTT + 4.0 ms + 1410.2 KB÷带宽 + SCI 48.6 ms；预算 = 5% × 纯同态端到端）；数据重算自 results/raw_results/E3/all/rtt_scan/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14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E4 通信开销：实验目的与实验思路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检验 H4：客户端每次查询的上下行字节，以及一次性评估密钥的大小，是否低于 TenSEAL naive 与 Delphi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42793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对应假设 H4：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客户端上行 + 下行通信量 &lt; TenSEAL naive 方案与 Delphi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方案产出：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Table 7（上传 / 下载 / 密钥 / 总量，方法 × 数据集）+ 密钥量单独柱图（按需裁剪旋转键 vs Delphi）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在线下行单独拆分：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加性共享路线（份额 + OT 消息）vs GC 路线（在线混淆表，MB 级），与 E7 非线性路线消融共用数据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协议依据：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协议设计 §6.1 给出密文字节预测 2·N·⌈log₂q_L/8⌉（L7 ≈ 336 KB … L2 ≈ 128 KB）；§6.4 说“按 plan 裁剪旋转键”是密钥压缩的核心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验收：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实测值落盘、与预测对照；密钥与下行字节显著低于 Delphi 与 GC 路线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本轮新增：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 档线格式（对称加密种子化、发送前降层、zstd、短模数链、compact 组合）逐字节实测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实验思路：怎么实现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44768" y="205740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逐层序列化：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comm_bytes.py 用 SEAL 4.1.2 把 L7→L2 每个 level 的密文、pk/relin/galois/sk 逐个序列化计字节，与协议预测比值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760720" y="27340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44768" y="269748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按调度汇总：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沿消息链 M1 → ①/② → M3 累加，得到 s00/01/10/11 每次查询的 S_up / S_down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60720" y="31912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44768" y="3154680"/>
            <a:ext cx="5422392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旋转键裁剪：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key_compression.py 推导所需位移 R = R_conv ∪ R_mm，只生成 ±2^i（i ≤ max_rot_pow）的 Galois 键，扫 max_rot_pow = 0…11；裁剪后跑 MNIST 3 样本验证预测不变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760720" y="4014215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44768" y="3977639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 种子：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seed 73–77 各跑一遍（字节应与种子无关，用于确认）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760720" y="4480559"/>
            <a:ext cx="1078992" cy="8229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M0 一次性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pk+relin+galois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184.6 MB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940296" y="4480559"/>
            <a:ext cx="1078992" cy="8229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M1 上行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fresh L7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917,625 B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119871" y="4480559"/>
            <a:ext cx="1078992" cy="82296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① 下行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ct_{z+r}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524–787 KB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299448" y="4480559"/>
            <a:ext cx="1078992" cy="82296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② 上行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Enc(c_c) L7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917,625 B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479024" y="4480559"/>
            <a:ext cx="1078992" cy="8229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M3 下行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ct_y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262–787 KB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60720" y="5349240"/>
            <a:ext cx="58064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5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①② 只在 s_k = 1 的层出现；字节由 CKKS 参数和调度决定，与种子、设备无关</a:t>
            </a:r>
            <a:endParaRPr lang="zh-CN" sz="95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脚本：analysis/comm_bytes.py、key_compression.py、measure_wire_bytes.py；seal/litepi_seal.cpp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15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E4 实验数据：密文字节阶梯、每次查询字节与密钥量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字节全部实测、5 种子逐字节一致；实测密文是协议预测的 2.0–2.7 倍，旋转键裁剪只省 3.98%；下一页的新线格式把每查询字节再压低 3.8–5.9 倍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475488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CKKS 密文逐层字节（SEAL 4.1.2 序列化）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27632"/>
          <a:ext cx="4754880" cy="19202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097280"/>
                <a:gridCol w="731520"/>
                <a:gridCol w="1005840"/>
                <a:gridCol w="1005840"/>
                <a:gridCol w="91440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密文层级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模数位数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实测字节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协议预测字节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实测÷预测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L7（fresh）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166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917,625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344,064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2.67×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L6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145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786,553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311,296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2.53×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L5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124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655,481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262,144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2.50×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L4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103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524,409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212,992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2.46×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L3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393,337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180,224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2.18×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L2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262,265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131,072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2.00×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57600"/>
            <a:ext cx="475488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每次查询上传/下载字节（B，未含 OT）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959352"/>
          <a:ext cx="4754880" cy="13716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731520"/>
                <a:gridCol w="1371600"/>
                <a:gridCol w="1371600"/>
                <a:gridCol w="128016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调度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上传字节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下载字节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合计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s00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917,625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262,265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1.18 MB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s01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1,835,275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1,312,115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3.15 MB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1,835,275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1,312,116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3.15 MB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s11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2,752,909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2,360,822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5.11 MB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40680" y="1371600"/>
          <a:ext cx="63093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40680" y="3959352"/>
          <a:ext cx="2926080" cy="148132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650000"/>
                <a:gridCol w="1276080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一次性密钥的组成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字节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公钥 pk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1,048,689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重线性化密钥 relin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7,340,887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旋转密钥 galois（24 个）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176,245,344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合计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184,634,920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裁剪后（23 个旋转密钥）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177,294,097（−3.98%）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Verdict"/>
          <p:cNvSpPr/>
          <p:nvPr/>
        </p:nvSpPr>
        <p:spPr>
          <a:xfrm>
            <a:off x="8549640" y="3959352"/>
            <a:ext cx="3200400" cy="242316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32519" y="4050791"/>
            <a:ext cx="283464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Verdict pill"/>
          <p:cNvSpPr/>
          <p:nvPr/>
        </p:nvSpPr>
        <p:spPr>
          <a:xfrm>
            <a:off x="8732519" y="4416552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部分达到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32519" y="4837176"/>
            <a:ext cx="2834640" cy="147218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达到：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字节全部实测、可复现；Delphi 的通信量已有实测（见 E2 对照页），H4 的比较有了一侧数据。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未达到：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① 无 TenSEAL naive 对照；② 实测为预测的 2.0–2.67 倍（SEAL 每个 RNS 素数按 64 bit 存、未压缩），协议 §6 字节表要改；③ 卷积的窗口位移要到 2^11，旋转键裁剪几乎无效；④ OT 字节未单独计量。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5560000"/>
            <a:ext cx="7909560" cy="86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1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改进方向 → 已实现并实测（下一页）</a:t>
            </a:r>
            <a:endParaRPr lang="zh-CN" sz="11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客户端持私钥，用对称加密 + 种子序列化；服务端发 ①、M3 前降到最低层；密钥用种子序列化；hybrid 调度用更短的模数链。这些让每查询字节降 3.8–5.9 倍、密钥降 3.9 倍；注意：端到端延迟收益尚未实测。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数据：results/raw_results/E4/all/comm_bytes/seed73–77、key_compression/seed73–77；E1/*/hybrid_s*_acc_seal（每次查询字节）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16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E4 压缩线格式：6 档方案逐字节实测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组合成 compact 档后，每次查询的上传+下载 s00 从 1.18 MB 降到 0.31 MB（3.8×），s11 从 5.11 MB 降到 0.87 MB（5.9×），一次性密钥 176→45.5 MiB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数据：results/raw_results/E4/all/wire_bytes/seed73.json；analysis/measure_wire_bytes.py、check_wire_canonical.py（压缩后逐样本正确性测试通过）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17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"/>
          <p:cNvSpPr txBox="1"/>
          <p:nvPr/>
        </p:nvSpPr>
        <p:spPr>
          <a:xfrm>
            <a:off x="457200" y="1325880"/>
            <a:ext cx="112928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MNIST 每次查询的字节（CIFAR / UCI 差 &lt;0.1%，与数据集无关；KB = 1000 B）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20" name="Table 线格式"/>
          <p:cNvGraphicFramePr>
            <a:graphicFrameLocks noGrp="1"/>
          </p:cNvGraphicFramePr>
          <p:nvPr/>
        </p:nvGraphicFramePr>
        <p:xfrm>
          <a:off x="457200" y="1650000"/>
          <a:ext cx="11292840" cy="2310000"/>
        </p:xfrm>
        <a:graphic>
          <a:graphicData uri="http://schemas.openxmlformats.org/drawingml/2006/table">
            <a:tbl>
              <a:tblPr firstRow="1"/>
              <a:tblGrid>
                <a:gridCol w="1100000"/>
                <a:gridCol w="3250000"/>
                <a:gridCol w="950000"/>
                <a:gridCol w="950000"/>
                <a:gridCol w="950000"/>
                <a:gridCol w="950000"/>
                <a:gridCol w="1700000"/>
                <a:gridCol w="1442840"/>
              </a:tblGrid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线格式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做了什么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s00 上传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(KB)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s00 下载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(KB)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s11 上传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(KB)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s11 下载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(KB)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总量缩小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(s00/s11)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一次性密钥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(MiB)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baseline</a:t>
                      </a:r>
                      <a:endParaRPr lang="zh-CN" sz="9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密文原样发送（上一版）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918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262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2753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2360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1.0× / 1.0×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176.1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seeded</a:t>
                      </a:r>
                      <a:endParaRPr lang="zh-CN" sz="9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客户端用对称加密 + 种子，密钥也用种子序列化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459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262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1377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2360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1.6× / 1.4×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88.1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modswitch</a:t>
                      </a:r>
                      <a:endParaRPr lang="zh-CN" sz="9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服务器发送前把密文降到最低层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918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131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2753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918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1.1× / 1.4×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176.1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zstd</a:t>
                      </a:r>
                      <a:endParaRPr lang="zh-CN" sz="9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对序列化结果做 zstd 压缩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439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157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1314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1144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2.0× / 2.1×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91.0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shortchain</a:t>
                      </a:r>
                      <a:endParaRPr lang="zh-CN" sz="9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hybrid 调度用更短的模数链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918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262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1311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918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1.0× / 2.3×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176.1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compact</a:t>
                      </a:r>
                      <a:endParaRPr lang="zh-CN" sz="9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以上全部组合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217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94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347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522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3.8× / 5.9×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45.5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457200" y="4400000"/>
          <a:ext cx="5000000" cy="2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" name="Verdict"/>
          <p:cNvSpPr/>
          <p:nvPr/>
        </p:nvSpPr>
        <p:spPr>
          <a:xfrm>
            <a:off x="5650000" y="4400000"/>
            <a:ext cx="6100000" cy="200000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"/>
          <p:cNvSpPr txBox="1"/>
          <p:nvPr/>
        </p:nvSpPr>
        <p:spPr>
          <a:xfrm>
            <a:off x="5832880" y="4491440"/>
            <a:ext cx="5734240" cy="33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Verdict pill"/>
          <p:cNvSpPr/>
          <p:nvPr/>
        </p:nvSpPr>
        <p:spPr>
          <a:xfrm>
            <a:off x="5832880" y="4830000"/>
            <a:ext cx="2103120" cy="300000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字节已达到，延迟未测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"/>
          <p:cNvSpPr txBox="1"/>
          <p:nvPr/>
        </p:nvSpPr>
        <p:spPr>
          <a:xfrm>
            <a:off x="5832880" y="5200000"/>
            <a:ext cx="5734240" cy="40068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达到：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每查询字节与密钥都显著下降，对称加密、种子化、降层、zstd、短链各自的贡献逐项可见。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注意：</a:t>
            </a:r>
            <a:r>
              <a:rPr lang="en-US" altLang="zh-CN" sz="10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1.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压缩的 CPU 成本与端到端延迟收益尚未实测；</a:t>
            </a:r>
            <a:r>
              <a:rPr lang="en-US" alt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2.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Pi5 上的编解码耗时未测。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E5 Planner 有效性：实验目的与实验思路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检验 H5：Planner 选出的调度在精度–时延–交互上 Pareto 支配全 HE、全 Hybrid、随机和规则调度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42793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对应假设 H5：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Adaptive 优于固定策略与随机调度（Pareto 支配）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 种策略（方案 E5）：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 HE-only、全 Hybrid、随机调度 ×5 平均、Rule-based、Greedy、Constrained / Adaptive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评价维度：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(Acc, T_client, R_online, M_client, E_client, L_e2e) 六维 Pareto 前沿（Fig. 8）+ Table 9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额外要求：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报 Planner 自身开销（搜索耗时、敏感度估计的评估次数）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为什么不用 canonical 网：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K = 2 只有 4 种调度，而且 P₂ 训练网不掉点（见 E1），Planner 退化为“选 s00”。所以改在 5 个非线性层的 CIFAR 深网上做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实验思路：怎么实现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Oval 10"/>
          <p:cNvSpPr/>
          <p:nvPr>
            <p:custDataLst>
              <p:tags r:id="rId1"/>
            </p:custDataLst>
          </p:nvPr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>
            <p:custDataLst>
              <p:tags r:id="rId2"/>
            </p:custDataLst>
          </p:nvPr>
        </p:nvSpPr>
        <p:spPr>
          <a:xfrm>
            <a:off x="6144768" y="205740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网络：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fast（32 通道，20,736 个 ReLU 元素）与 VGG（64 通道，164,096 个），5 个非线性层，调度空间 2^5 = 32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Oval 12"/>
          <p:cNvSpPr/>
          <p:nvPr>
            <p:custDataLst>
              <p:tags r:id="rId3"/>
            </p:custDataLst>
          </p:nvPr>
        </p:nvSpPr>
        <p:spPr>
          <a:xfrm>
            <a:off x="5760720" y="27340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>
            <p:custDataLst>
              <p:tags r:id="rId4"/>
            </p:custDataLst>
          </p:nvPr>
        </p:nvSpPr>
        <p:spPr>
          <a:xfrm>
            <a:off x="6144768" y="269748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精度模型：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单层 P₂ 重训几乎不掉点（−0.10 ~ +0.65）；多层累积用组合罚项 acc = base − 0.0025·k(k−1)，k = P₂ 层数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Oval 14"/>
          <p:cNvSpPr/>
          <p:nvPr>
            <p:custDataLst>
              <p:tags r:id="rId5"/>
            </p:custDataLst>
          </p:nvPr>
        </p:nvSpPr>
        <p:spPr>
          <a:xfrm>
            <a:off x="5760720" y="337413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6144768" y="3337560"/>
            <a:ext cx="5422392" cy="61023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成本模型：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客户端/MPC 时间由 E1/E2 实测拟合（MPC 9.66 ms/层 + 0.0037 ms/元素），服务器时间按(数据集, 调度)查 E1 实测表，字节取 E4 实测，往返数 r_h = 6.02；旧的 12.9 ms/元素、3996 B/元素（Python OT）已弃用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Oval 16"/>
          <p:cNvSpPr/>
          <p:nvPr>
            <p:custDataLst>
              <p:tags r:id="rId7"/>
            </p:custDataLst>
          </p:nvPr>
        </p:nvSpPr>
        <p:spPr>
          <a:xfrm>
            <a:off x="5760720" y="419709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7"/>
          <p:cNvSpPr txBox="1"/>
          <p:nvPr>
            <p:custDataLst>
              <p:tags r:id="rId8"/>
            </p:custDataLst>
          </p:nvPr>
        </p:nvSpPr>
        <p:spPr>
          <a:xfrm>
            <a:off x="6144768" y="4160520"/>
            <a:ext cx="5422392" cy="7498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策略求解：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rule（敏感度/元素数排序+深度修复）、greedy（逐层翻转最大增益/成本）、constrained（满足 acc_min 下穷举 32 种取最小时间 / 最少 MPC 元素）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Oval 18"/>
          <p:cNvSpPr/>
          <p:nvPr>
            <p:custDataLst>
              <p:tags r:id="rId9"/>
            </p:custDataLst>
          </p:nvPr>
        </p:nvSpPr>
        <p:spPr>
          <a:xfrm>
            <a:off x="5760720" y="50200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19"/>
          <p:cNvSpPr txBox="1"/>
          <p:nvPr>
            <p:custDataLst>
              <p:tags r:id="rId10"/>
            </p:custDataLst>
          </p:nvPr>
        </p:nvSpPr>
        <p:spPr>
          <a:xfrm>
            <a:off x="6144768" y="498348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约束与验证：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acc_min ∈ {0.80, 0.84}；对 fast 的 00100 实际重训验证预测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脚本：analysis/planner.py、cost_model.py、gen_e5_data.py、measure_sensitivity.py；输出 results/E5/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18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E5 实验数据：VGG / fast 上的策略对比与 Pareto 前沿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用实测成本重算：VGG 上约束搜索选出的 00100（85.55%）比规则/贪心快约 31%、比全 hybrid 快约 47%；但精度与成本仍是模型预测，只有 1 个调度做过实测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704088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VGG 上各策略的选择结果（模型预测，r_h = 6.02）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27632"/>
          <a:ext cx="7040875" cy="2040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960751"/>
                <a:gridCol w="668437"/>
                <a:gridCol w="757563"/>
                <a:gridCol w="802125"/>
                <a:gridCol w="668437"/>
                <a:gridCol w="668437"/>
                <a:gridCol w="713000"/>
                <a:gridCol w="802125"/>
              </a:tblGrid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策略（VGG）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每层选择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预测精度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需安全比较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ReLU 数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混合层数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端到端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时间 (s)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通信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(MB)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最优折中？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全 hybrid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11111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88.55%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164,096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30.3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10.2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否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全纯同态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00000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83.55%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12.6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精度不达标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规则法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11001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88.05%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131,328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23.4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6.8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否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贪心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11001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88.05%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131,328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23.4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6.8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否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约束搜索（自适应）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00100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85.55%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16,384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16.1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3.4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是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E8F6EE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随机调度 ×5 平均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87.95%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23.2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达标 5/5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26679" y="1371600"/>
          <a:ext cx="402336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657600"/>
            <a:ext cx="429768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fast 网（精度下限 84%，模型预测）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959352"/>
          <a:ext cx="4297680" cy="12801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80160"/>
                <a:gridCol w="685800"/>
                <a:gridCol w="731520"/>
                <a:gridCol w="868680"/>
                <a:gridCol w="731520"/>
              </a:tblGrid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fast 网（精度下限 84%）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每层选择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精度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需安全比较的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ReLU 个数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时间 (s)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全 hybrid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11111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85.09%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20,736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29.8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规则法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00111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84.59%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8,448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22.9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贪心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01101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84.59%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8,448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22.9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约束搜索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00111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84.59%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8,448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22.9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937760" y="3959352"/>
          <a:ext cx="2560320" cy="12801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34440"/>
                <a:gridCol w="1325880"/>
              </a:tblGrid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实测验证与开销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数值</a:t>
                      </a:r>
                      <a:endParaRPr lang="zh-CN" sz="9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fast 00100：预测 → 实测</a:t>
                      </a:r>
                      <a:endParaRPr lang="zh-CN" sz="9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82.09% → 82.87%（+0.78）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规划器求解时间</a:t>
                      </a:r>
                      <a:endParaRPr lang="zh-CN" sz="9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0.13 ms（VGG）/ 0.14 ms（fast）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调度空间</a:t>
                      </a:r>
                      <a:endParaRPr lang="zh-CN" sz="9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32（穷举）</a:t>
                      </a:r>
                      <a:endParaRPr lang="zh-CN" sz="9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Verdict"/>
          <p:cNvSpPr/>
          <p:nvPr/>
        </p:nvSpPr>
        <p:spPr>
          <a:xfrm>
            <a:off x="7726679" y="4114800"/>
            <a:ext cx="4023360" cy="228600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Verdict pill"/>
          <p:cNvSpPr/>
          <p:nvPr/>
        </p:nvSpPr>
        <p:spPr>
          <a:xfrm>
            <a:off x="7909559" y="4261104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部分达到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149840" y="4242816"/>
            <a:ext cx="141732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09559" y="4681728"/>
            <a:ext cx="3657600" cy="980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达到：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VGG 的最优折中前沿 5 点，约束搜索占其中最便宜的一点，快规则/贪心 31%、快全 hybrid 47%；成本常数已换成实测拟合 + r_h=6.02。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1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仍是模型：</a:t>
            </a: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精度来自罚项、深网服务器时间由浅网外推；00100 依赖 P₂→卷积（代码已写、待实测），实测前能跑的最优是 11100（23.4 s，慢 45%）。</a:t>
            </a:r>
            <a:endParaRPr lang="zh-CN" sz="9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5440680"/>
            <a:ext cx="7040880" cy="96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读法：“每层选择”里 0=多项式、1=ReLU，精度下限 84%。VGG 上只在 conv3 用精确 ReLU 就保住 85.55%；fast 网上三种启发式都收敛到 8,448 个 ReLU 元素的 00111（22.9 s）。要求代码现在就能跑则需 11100：fast 上时间几乎相同，VGG 上慢 45%。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数据：results/E5/e5_planner_{vgg,fast}.json（提交 0230273，已按实测 r_h = 6.025 重算）；实测验证见 docs/实验数据.md（E5 节）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19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E6 客户端能耗：实验目的与实验思路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量化客户端每次查询消耗的能量，把“低交互”换算成电池寿命——这是 IoT 场景最直观的指标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42793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方案要求：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功率计采样，测完整在线阶段能耗，方法 × 设备（Pi4 / Pi5）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分解：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计算能耗（CPU 段积分）与通信能耗（收发段积分）分开报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产出：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Fig. 7 能耗对比柱状图 + 换算表：每日推理次数下的电池寿命（mAh）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预期：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低交互模式（s00）通信能耗显著下降；hybrid 层越多，收发段越长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与其它实验的关系：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E2 只给了时间和内存；能耗是方案 §6.1 六项客户端指标中唯一还空着的 E_client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换算口径（计划）：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电池能量 = 容量 × 电压，例如 3000 mAh × 3.7 V ≈ 40 kJ；每日可推理次数 = 可用能量 / 单次查询能耗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实验思路：计划怎么测（尚未开展）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44768" y="205740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设备：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PowerZ / J7-C 类 USB 功率计串在 Pi5 供电线上（≥1 kHz），客户端与服务器分机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760720" y="25511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44768" y="251460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对齐：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客户端在每段开始/结束写高精度时间戳，与功率采样对齐后分段积分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60720" y="30083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44768" y="297180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矩阵：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 数据集 × 4 调度 × 5 种子；每点 25 次查询取均值；另测空载与仅网络收发两条基线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760720" y="36484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44768" y="361188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一次性成本单列：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Setup 阶段（keygen + 上传 184.6 MB 密钥）单独积分，按“每 N 次查询摊销”报告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760720" y="4297680"/>
            <a:ext cx="1371600" cy="6858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USB 功率计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≥ 1 kHz 采样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7178040" y="4636008"/>
            <a:ext cx="36576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89520" y="4297680"/>
            <a:ext cx="1463040" cy="685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Raspberry Pi 5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客户端进程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9098280" y="4636008"/>
            <a:ext cx="36576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09760" y="4297680"/>
            <a:ext cx="2057400" cy="6858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服务器（另一台机）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只作对端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60720" y="5047488"/>
            <a:ext cx="58064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5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功率曲线与客户端日志按时间戳对齐：编码/加密/解密段积分 = 计算能耗；收发段积分 = 通信能耗；扣除空载基线</a:t>
            </a:r>
            <a:endParaRPr lang="zh-CN" sz="95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依据：实验方案 §2.1（能耗测量）、§6.1、§7 E6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20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E6 实验数据：尚未开展——缺少 USB 功率计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没有任何能耗实测数据；下面是待填表和已经具备的输入，不做能耗估算以免出现无来源的数字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67665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Fig. 7 / 换算表的待填模板（Pi5）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27632"/>
          <a:ext cx="6766560" cy="204825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371600"/>
                <a:gridCol w="1188720"/>
                <a:gridCol w="1188720"/>
                <a:gridCol w="1280160"/>
                <a:gridCol w="173736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数据集 · 调度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计算能耗 (mJ)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通信能耗 (mJ)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单次总能耗 (mJ)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每日 1000 次的电池寿命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 · s00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 · s11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 · s00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 · s11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 · s00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 · s11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【待测】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840480"/>
            <a:ext cx="676656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能耗实验可直接复用的输入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4133087"/>
          <a:ext cx="6766560" cy="141732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657600"/>
                <a:gridCol w="3108960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已具备的输入（来自 E2/E4）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数值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Pi5 客户端计算时间（HE-only）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≈ 20 ms / 次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每次查询字节 s00 / s11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1.18 MB / 5.11 MB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一次性 Setup 上传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184.6 MB（Wi-Fi 实测约 36 s）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实测 Wi-Fi 吞吐（Pi5↔桌面）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上行 4.41 MB/s · 下行 4.94 MB/s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650992"/>
            <a:ext cx="6766560" cy="777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值得提前注意：按上面的输入，s11 单次查询的通信时长（约 1 s）远长于计算（约 20 ms），能耗很可能由 Wi-Fi 收发主导；Setup 的 184.6 MB 上传可能比数百次查询更耗电，必须单列。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Verdict"/>
          <p:cNvSpPr/>
          <p:nvPr/>
        </p:nvSpPr>
        <p:spPr>
          <a:xfrm>
            <a:off x="7452360" y="1371600"/>
            <a:ext cx="4297680" cy="5029200"/>
          </a:xfrm>
          <a:prstGeom prst="roundRect">
            <a:avLst>
              <a:gd name="adj" fmla="val 6000"/>
            </a:avLst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Verdict pill"/>
          <p:cNvSpPr/>
          <p:nvPr/>
        </p:nvSpPr>
        <p:spPr>
          <a:xfrm>
            <a:off x="7635240" y="1517904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未开始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75520" y="1499616"/>
            <a:ext cx="169164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35240" y="1938528"/>
            <a:ext cx="3931920" cy="197802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原因：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没有 ≥1 kHz 的 USB 功率计；方案 §2.1 列的 Monsoon / PowerZ / J7-C 均未到位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附带风险：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Pi5 在 10-28 01:36 整机掉电重启（疑似供电问题，审计 §9.5）；功率计串入供电后也能顺便监测这一问题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需要的决定：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采购或借用 USB 功率计；需先确认型号的记录采样率能达到方案要求的 ≥1 kHz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到位后工作量：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脚本可复用 eval_client_overhead.py 的分段计时，主要工作是时间戳对齐与积分（估计 1–2 天）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论文影响：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Fig. 7 与电池寿命换算表空缺；若来不及，正文只能删去能耗相关的客户端成本论述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依据：实验方案 §2.1、§6.1、§7 E6；docs/实验完成计划.md“E6/E8 未启动”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21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E7 消融实验：实验目的与实验思路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从“算子测试”改为“真消融”：每一行都是“完整 LitePI vs 去掉一项设计”，同一网络、同一链路下比客户端成本与精度，并标明证据等级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276288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方案 Table 8 的目的：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逐项去掉 LitePI 的一个设计，看客户端成本或精度反弹多少，证明每个设计都有用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旧版的问题：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截断消融测的是协议没用到的算子（份额域只做 ReLU 的比较与选择，没有定点乘法）；F 消融只是调参。两者都没有去掉任何设计，旧数据不再作为消融证据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D645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关键一项——去掉客户端感知：</a:t>
            </a:r>
            <a:r>
              <a:rPr lang="zh-CN" sz="1200" b="0" i="0">
                <a:solidFill>
                  <a:srgbClr val="D645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目标改成只看服务端时间。合成测试里 s1110 的服务端比 s0100 快，但通信量是后者两倍多，planner 会选到客户端更重的调度，这正是方案要的“成本反弹”，要等 conv3 实测确认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不凑数：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协议和代码里不存在的组件（离线缓存、随机截断）如实写“不存在”，不出数字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验收：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每行报完整 vs 去掉后的客户端时间、字节、往返与精度；反弹比 = 去掉后 ÷ 完整；每行标一档证据等级；实测项 5 种子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实验思路：怎么实现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依据：实验方案 Table 8；成本单价来自 E2 / E4 实测，r_h = 6.02（E3）；旧截断脚本 analysis/gen_e7_data.py 不再作为消融证据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22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Oval 10"/>
          <p:cNvSpPr/>
          <p:nvPr/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11"/>
          <p:cNvSpPr txBox="1"/>
          <p:nvPr/>
        </p:nvSpPr>
        <p:spPr>
          <a:xfrm>
            <a:off x="6144768" y="2057400"/>
            <a:ext cx="5422392" cy="46573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消融行：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去掉规划器、去掉客户端感知、去掉 compact 线格式、去掉旋转键裁剪、掩码复用（违反 M1）、非线性路线换 GC（Delphi）、离线缓存、随机截断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Oval 10"/>
          <p:cNvSpPr/>
          <p:nvPr/>
        </p:nvSpPr>
        <p:spPr>
          <a:xfrm>
            <a:off x="5760720" y="2669438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11"/>
          <p:cNvSpPr txBox="1"/>
          <p:nvPr/>
        </p:nvSpPr>
        <p:spPr>
          <a:xfrm>
            <a:off x="6144768" y="2632862"/>
            <a:ext cx="5422392" cy="46573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固定对照条件：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同一网络、同一设备 profile（x86 / Pi5）、同一链路（RTT 50 ms、50 Mbps），只改被去掉的那一项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Oval 10"/>
          <p:cNvSpPr/>
          <p:nvPr/>
        </p:nvSpPr>
        <p:spPr>
          <a:xfrm>
            <a:off x="5760720" y="3244900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11"/>
          <p:cNvSpPr txBox="1"/>
          <p:nvPr/>
        </p:nvSpPr>
        <p:spPr>
          <a:xfrm>
            <a:off x="6144768" y="3208324"/>
            <a:ext cx="5422392" cy="66202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客户端感知怎么测：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同一 profile 下分别以“客户端 + 端到端”和“只看服务端时间”为目标跑 planner，比较两者选出调度的客户端字节与时间；深网用 conv3 实测替换模型值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Oval 10"/>
          <p:cNvSpPr/>
          <p:nvPr/>
        </p:nvSpPr>
        <p:spPr>
          <a:xfrm>
            <a:off x="5760720" y="4016654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11"/>
          <p:cNvSpPr txBox="1"/>
          <p:nvPr/>
        </p:nvSpPr>
        <p:spPr>
          <a:xfrm>
            <a:off x="6144768" y="3980078"/>
            <a:ext cx="5422392" cy="46573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反弹比：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去掉后 ÷ 完整，&gt;1 说明这个设计有用；精度差单列，低于精度下限即判为“不可去掉”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30" name="Table 证据等级"/>
          <p:cNvGraphicFramePr>
            <a:graphicFrameLocks noGrp="1"/>
          </p:cNvGraphicFramePr>
          <p:nvPr/>
        </p:nvGraphicFramePr>
        <p:xfrm>
          <a:off x="5760720" y="4601260"/>
          <a:ext cx="5806440" cy="1371600"/>
        </p:xfrm>
        <a:graphic>
          <a:graphicData uri="http://schemas.openxmlformats.org/drawingml/2006/table">
            <a:tbl>
              <a:tblPr firstRow="1"/>
              <a:tblGrid>
                <a:gridCol w="1417320"/>
                <a:gridCol w="438912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证据等级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含义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实测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完整与去掉后两边都在真实运行中测得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由实测单价推算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每层时间、字节等单价实测，组合用成本模型算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基线对照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用另一系统（Delphi 复现）代表“去掉后”，系统级对比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组件不存在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协议或代码里没有该组件，只写“不存在”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E7 实验数据：逐项消融（完整 LitePI vs 去掉一项）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 行有实测或基线且都出现反弹（compact 3.8–5.9×、掩码复用完全泄露、GC 内存约 3×）；关键的“去掉客户端感知”待 conv3 实测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Verdict"/>
          <p:cNvSpPr/>
          <p:nvPr/>
        </p:nvSpPr>
        <p:spPr>
          <a:xfrm>
            <a:off x="6172200" y="4754880"/>
            <a:ext cx="5577840" cy="164592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Verdict pill"/>
          <p:cNvSpPr/>
          <p:nvPr/>
        </p:nvSpPr>
        <p:spPr>
          <a:xfrm>
            <a:off x="6355080" y="4864608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部分达到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95360" y="4846320"/>
            <a:ext cx="2971799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55080" y="5248656"/>
            <a:ext cx="521208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达到：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compact、旋转键裁剪、掩码复用三行有实测；GC 路线有 Delphi 基线；不存在的组件如实标注。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1" i="0">
                <a:solidFill>
                  <a:srgbClr val="D645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待补测：</a:t>
            </a:r>
            <a:r>
              <a:rPr lang="zh-CN" sz="1000" b="0" i="0">
                <a:solidFill>
                  <a:srgbClr val="D645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去掉客户端感知（关键反弹证据）等 conv3 实测；去掉规划器的精度仍是模型值。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注意：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旋转键裁剪反弹只有 1.04×，不宜写成主要贡献。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4800600"/>
            <a:ext cx="5486400" cy="1554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1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说明：</a:t>
            </a:r>
            <a:r>
              <a:rPr lang="zh-CN" sz="10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旧版截断统计（直接截断每次偏 −0.49 LSB、随机截断无偏）只说明算子性质；LitePI 的份额域没有定点乘法，这组数据不再作为消融证据。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“去掉规划器”的精度来自罚项模型，深网密文实测后替换；GC 路线一行用 Delphi 复现代表，模型、HE 方案、设备都不同，只能作系统级对照。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数据：E4 线格式 results/raw_results/E4/all/wire_bytes/、key_compression/；E10a summary_5seeds.json；E5/E7 规划器重算（r_h = 6.025）；Delphi 见 results/E_delphi/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23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16" name="Table 消融"/>
          <p:cNvGraphicFramePr>
            <a:graphicFrameLocks noGrp="1"/>
          </p:cNvGraphicFramePr>
          <p:nvPr/>
        </p:nvGraphicFramePr>
        <p:xfrm>
          <a:off x="457200" y="1371600"/>
          <a:ext cx="11292840" cy="3218688"/>
        </p:xfrm>
        <a:graphic>
          <a:graphicData uri="http://schemas.openxmlformats.org/drawingml/2006/table">
            <a:tbl>
              <a:tblPr firstRow="1"/>
              <a:tblGrid>
                <a:gridCol w="2331720"/>
                <a:gridCol w="2514600"/>
                <a:gridCol w="2514600"/>
                <a:gridCol w="1600200"/>
                <a:gridCol w="233172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去掉的设计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完整 LitePI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去掉后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反弹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证据等级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规划器（固定为纯同态）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fast 00111 · 84.59%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VGG 00100 · 85.55%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00000 · 80.09% / 83.55%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（低于 84% 下限）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精度 −4.5 / −2.0 点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由实测单价推算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（精度为罚项模型）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客户端感知（只按服务端时间选）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浅网 s00；深网待补测</a:t>
                      </a:r>
                      <a:endParaRPr lang="zh-CN" sz="950" b="0" i="0">
                        <a:solidFill>
                          <a:srgbClr val="D64545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浅网 s00；深网待补测</a:t>
                      </a:r>
                      <a:endParaRPr lang="zh-CN" sz="950" b="0" i="0">
                        <a:solidFill>
                          <a:srgbClr val="D64545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浅网 1.0；深网待补测</a:t>
                      </a:r>
                      <a:endParaRPr lang="zh-CN" sz="950" b="0" i="0">
                        <a:solidFill>
                          <a:srgbClr val="D64545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 conv3 实测</a:t>
                      </a:r>
                      <a:endParaRPr lang="zh-CN" sz="950" b="0" i="0">
                        <a:solidFill>
                          <a:srgbClr val="D64545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（合成测试：通信 &gt;2×）</a:t>
                      </a:r>
                      <a:endParaRPr lang="zh-CN" sz="950" b="0" i="0">
                        <a:solidFill>
                          <a:srgbClr val="D64545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compact 线格式（改回 baseline）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每查询 0.31 / 0.87 MB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密钥 45.5 MiB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1.18 / 5.11 MB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176.1 MiB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3.8× / 5.9×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密钥 3.9×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实测（字节；延迟未测）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旋转键裁剪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密钥 177.3 MB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184.6 MB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1.04×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实测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一次性掩码 M1（改为复用）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单次符号恢复率 50.0%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激活差分恢复误差 ≈1e-8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完全泄露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实测（E10a）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SCI 加性共享路线（换 GC）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客户端内存 112.6 MB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每次通信 1.13 MiB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Delphi：347 MiB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123.3 MiB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≈3× / ≈110×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基线对照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（模型、HE 方案不同）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离线缓存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lang="zh-CN" sz="950" b="0" i="0">
                        <a:solidFill>
                          <a:srgbClr val="8A929E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随机截断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endParaRPr lang="zh-CN" sz="950" b="0" i="0">
                        <a:solidFill>
                          <a:srgbClr val="8A929E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E7 规划器消融：去掉规划器、去掉“客户端感知”会怎样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07670" y="756158"/>
            <a:ext cx="11274552" cy="69278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去掉规划器：</a:t>
            </a: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深网上固定纯同态比完整方案低 4.5 点（fast）/ 2.0 点（VGG），低于 84% 的下限；浅网无差别（P₂ 训练的网不掉点）。精度来自罚项模型，深网实测后替换。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数据：重算自 analysis/gen_e7_ablations.py（r_h=6.025，x86 桌面，RTT 50 ms，50 Mbps）；results/E7/e7_planner_ablations.*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24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"/>
          <p:cNvSpPr txBox="1"/>
          <p:nvPr/>
        </p:nvSpPr>
        <p:spPr>
          <a:xfrm>
            <a:off x="479425" y="1303020"/>
            <a:ext cx="11292840" cy="2311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三种配置的选择结果（每个网络一行；精度下限：MNIST 97.5%、CIFAR 59%、UCI 89%、深网 84%）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20" name="Table 规划器消融"/>
          <p:cNvGraphicFramePr>
            <a:graphicFrameLocks noGrp="1"/>
          </p:cNvGraphicFramePr>
          <p:nvPr/>
        </p:nvGraphicFramePr>
        <p:xfrm>
          <a:off x="457200" y="1650000"/>
          <a:ext cx="11292840" cy="3000000"/>
        </p:xfrm>
        <a:graphic>
          <a:graphicData uri="http://schemas.openxmlformats.org/drawingml/2006/table">
            <a:tbl>
              <a:tblPr firstRow="1"/>
              <a:tblGrid>
                <a:gridCol w="1500000"/>
                <a:gridCol w="3400000"/>
                <a:gridCol w="3400000"/>
                <a:gridCol w="2992840"/>
              </a:tblGrid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网络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完整 LitePI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（调度 · 精度 · 端到端）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去掉规划器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（固定为全纯同态）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去掉客户端感知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10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（只按服务器时间选）</a:t>
                      </a:r>
                      <a:endParaRPr lang="zh-CN" sz="10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10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 · 97.97% · 5.1 s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10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 · 60.59% · 18.3 s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10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 · 90.34% · 14.9 s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同左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fast（深网）</a:t>
                      </a:r>
                      <a:endParaRPr lang="zh-CN" sz="10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00111 · 84.59% · 24.0 s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00000 · 80.09% · 12.9 s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低于精度下限 84%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待补测（conv3 实测）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5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10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VGG（深网）</a:t>
                      </a:r>
                      <a:endParaRPr lang="zh-CN" sz="10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00100 · 85.55% · 16.7 s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00000 · 83.55% · 12.9 s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10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低于精度下限 84%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5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待补测（conv3 实测）</a:t>
                      </a:r>
                      <a:endParaRPr lang="zh-CN" sz="10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Verdict"/>
          <p:cNvSpPr/>
          <p:nvPr/>
        </p:nvSpPr>
        <p:spPr>
          <a:xfrm>
            <a:off x="457200" y="4850000"/>
            <a:ext cx="11292840" cy="150000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"/>
          <p:cNvSpPr txBox="1"/>
          <p:nvPr/>
        </p:nvSpPr>
        <p:spPr>
          <a:xfrm>
            <a:off x="640080" y="4941440"/>
            <a:ext cx="2200000" cy="33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Verdict pill"/>
          <p:cNvSpPr/>
          <p:nvPr/>
        </p:nvSpPr>
        <p:spPr>
          <a:xfrm>
            <a:off x="640080" y="5330000"/>
            <a:ext cx="2103120" cy="320000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 项有效，1 项待测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"/>
          <p:cNvSpPr txBox="1"/>
          <p:nvPr/>
        </p:nvSpPr>
        <p:spPr>
          <a:xfrm>
            <a:off x="2957200" y="4910000"/>
            <a:ext cx="8642840" cy="14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去掉规划器：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深网上固定纯同态会比完整方案低 4.5 点（fast）/ 2.0 点（VGG），低于 84% 的下限；浅网上没有差别，因为 P₂ 训练的网不掉点（E1）。规划器的价值只在深网上出现。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去掉客户端感知：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hybrid 层同时增加客户端和服务器开销，两个目标一致，选择完全相同，反弹 = 0。这是网络本身的性质，不是实现问题；论文要么改用深网并实测服务器时间，要么如实写“在 K=2 的网络上两个目标一致”。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E8 设备异构性：实验目的与实验思路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从“列出各设备结果”改为“找盈亏点”：客户端要慢多少倍、带宽和 RTT 差到多少、内存低到多少，Planner 才会改变选择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276288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方案要求：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同一配置在多档客户端上运行，Planner 按各设备 profile 重新规划（Table 10）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旧版的问题：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客户端计算只占端到端 &lt;2%，x86 与 Pi5 选出的调度完全相同；“弱设备更保守”既证实不了，也证伪不了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新的问题：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沿三个方向改 profile——客户端算力慢多少倍、带宽与 RTT 差到多少、可用内存低到多少——找出 Planner 改变选择的阈值（盈亏点）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D645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能得出的结论：</a:t>
            </a:r>
            <a:r>
              <a:rPr lang="zh-CN" sz="1200" b="0" i="0">
                <a:solidFill>
                  <a:srgbClr val="D645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如果算力要差出很多倍才改变选择，就说明 LitePI 客户端足够轻，决定调度的是网络和精度。符合客户端轻量的主线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验收：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每个方向给出阈值，或“在合理范围内不改变”；阈值两侧各取一个配置，用真实设备或 netem 实测，确认选择确实翻转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实验思路：怎么实现（扫描尚未开展）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Flow box"/>
          <p:cNvSpPr/>
          <p:nvPr/>
        </p:nvSpPr>
        <p:spPr>
          <a:xfrm>
            <a:off x="5760720" y="4450689"/>
            <a:ext cx="1325880" cy="8686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实测锚点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x86 · Pi5（· Pi4）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18" name="Connector"/>
          <p:cNvCxnSpPr/>
          <p:nvPr/>
        </p:nvCxnSpPr>
        <p:spPr>
          <a:xfrm>
            <a:off x="7095744" y="4880457"/>
            <a:ext cx="13716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low box"/>
          <p:cNvSpPr/>
          <p:nvPr/>
        </p:nvSpPr>
        <p:spPr>
          <a:xfrm>
            <a:off x="7242048" y="4450689"/>
            <a:ext cx="1325880" cy="8686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沿一个方向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缩放 profile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20" name="Connector"/>
          <p:cNvCxnSpPr/>
          <p:nvPr/>
        </p:nvCxnSpPr>
        <p:spPr>
          <a:xfrm>
            <a:off x="8577072" y="4880457"/>
            <a:ext cx="13716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low box"/>
          <p:cNvSpPr/>
          <p:nvPr/>
        </p:nvSpPr>
        <p:spPr>
          <a:xfrm>
            <a:off x="8723376" y="4450689"/>
            <a:ext cx="1325880" cy="86868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Planner 重算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记录选出的调度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22" name="Connector"/>
          <p:cNvCxnSpPr/>
          <p:nvPr/>
        </p:nvCxnSpPr>
        <p:spPr>
          <a:xfrm>
            <a:off x="10058400" y="4880457"/>
            <a:ext cx="137160" cy="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ow box"/>
          <p:cNvSpPr/>
          <p:nvPr/>
        </p:nvSpPr>
        <p:spPr>
          <a:xfrm>
            <a:off x="10204704" y="4450689"/>
            <a:ext cx="1325880" cy="86868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9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找到翻转点</a:t>
            </a:r>
            <a:endParaRPr lang="zh-CN" sz="9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9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两侧各实测验证</a:t>
            </a:r>
            <a:endParaRPr lang="zh-CN" sz="95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依据：实验方案 §7 E8；协议设计 §7.3；锚点数据来自 E2（x86 / Pi5）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25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Oval 10"/>
          <p:cNvSpPr/>
          <p:nvPr/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extBox 11"/>
          <p:cNvSpPr txBox="1"/>
          <p:nvPr/>
        </p:nvSpPr>
        <p:spPr>
          <a:xfrm>
            <a:off x="6144768" y="2057400"/>
            <a:ext cx="5422392" cy="46573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实测锚点：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x86 与 Pi5（Pi5 客户端慢 4.1×）的加解密、SCI 客户端耗时与独立进程内存，作为两个真实点；Pi4 借到后作第三点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Oval 10"/>
          <p:cNvSpPr/>
          <p:nvPr/>
        </p:nvSpPr>
        <p:spPr>
          <a:xfrm>
            <a:off x="5760720" y="2669438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11"/>
          <p:cNvSpPr txBox="1"/>
          <p:nvPr/>
        </p:nvSpPr>
        <p:spPr>
          <a:xfrm>
            <a:off x="6144768" y="2632862"/>
            <a:ext cx="5422392" cy="46573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算力扫描：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只把客户端计算时间按 1×–1000× 放大，其余不变，记录 Planner 首次改变选择的倍数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Oval 10"/>
          <p:cNvSpPr/>
          <p:nvPr/>
        </p:nvSpPr>
        <p:spPr>
          <a:xfrm>
            <a:off x="5760720" y="3244900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TextBox 11"/>
          <p:cNvSpPr txBox="1"/>
          <p:nvPr/>
        </p:nvSpPr>
        <p:spPr>
          <a:xfrm>
            <a:off x="6144768" y="3208324"/>
            <a:ext cx="5422392" cy="46573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网络扫描：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带宽 1–100 Mbps × RTT 1–500 ms，画出调度切换的边界（与 E3 共用成本模型和实测 r_h）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Oval 10"/>
          <p:cNvSpPr/>
          <p:nvPr/>
        </p:nvSpPr>
        <p:spPr>
          <a:xfrm>
            <a:off x="5760720" y="3820363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11"/>
          <p:cNvSpPr txBox="1"/>
          <p:nvPr/>
        </p:nvSpPr>
        <p:spPr>
          <a:xfrm>
            <a:off x="6144768" y="3783787"/>
            <a:ext cx="5422392" cy="46573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内存扫描：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内存预算从 1 GB 降到 64 MB，用实测的客户端内存（含 hybrid 增量），看何时被迫退回纯同态或更短的模数链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E8 实验数据：两个实测锚点与盈亏点扫描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已有 x86 / Pi5 两个实测锚点：Pi5 客户端慢 4.1×，规划器选择不变——4 倍以内的算力差不改变调度；算力 / 网络 / 内存三个方向的盈亏点待补测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73152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实测锚点（客户端计算来自 E2；端到端与深网行为模型推算，时延不能跨机混算）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27632"/>
          <a:ext cx="7315200" cy="2800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828800"/>
                <a:gridCol w="2103120"/>
                <a:gridCol w="1325880"/>
                <a:gridCol w="1234440"/>
                <a:gridCol w="822960"/>
              </a:tblGrid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设备 · 网络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规划器选的调度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计算耗时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内存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端到端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时间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桌面 · MNIST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10.2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112.6 MB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5.1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桌面 · CIFAR-10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10.2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18.3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桌面 · UCI-HAR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10.2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14.9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桌面 · fast(深网)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00111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97.5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24.0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x86 桌面 · VGG(深网)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90.1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16.7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Raspberry Pi 5 · MNIST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42.0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5.2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Raspberry Pi 5 · CIFAR-10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42.0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18.4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Raspberry Pi 5 · UCI-HAR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42.0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14.9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Raspberry Pi 5 · fast(深网)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00111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395.7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24.3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Raspberry Pi 5 · VGG(深网)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00100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364.1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—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16.9 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53712"/>
            <a:ext cx="73152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盈亏点扫描：Planner 首次改变选择的阈值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001000" y="1371600"/>
          <a:ext cx="3749039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Verdict"/>
          <p:cNvSpPr/>
          <p:nvPr/>
        </p:nvSpPr>
        <p:spPr>
          <a:xfrm>
            <a:off x="8001000" y="3840480"/>
            <a:ext cx="3749039" cy="256032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183879" y="3931920"/>
            <a:ext cx="3383279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Verdict pill"/>
          <p:cNvSpPr/>
          <p:nvPr/>
        </p:nvSpPr>
        <p:spPr>
          <a:xfrm>
            <a:off x="8183879" y="4297680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部分完成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83879" y="4718304"/>
            <a:ext cx="3383279" cy="16093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已有：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x86 / Pi5 两个实测锚点；Pi5 客户端计算 42 ms（x86 10 ms），端到端只差约 0.03 s，选择相同。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00" b="1" i="0">
                <a:solidFill>
                  <a:srgbClr val="D645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待补测：</a:t>
            </a:r>
            <a:r>
              <a:rPr lang="zh-CN" sz="1000" b="0" i="0">
                <a:solidFill>
                  <a:srgbClr val="D645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三个方向的盈亏点；hybrid 层的客户端内存增量；Pi4 锚点。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预期写法：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算力要差很多倍才翻转 → “调度由网络与精度决定，客户端足够轻”。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数据：results/E8/e8_devices.json（提交 0230273，按实测 r_h 重算）；客户端内存见 E2 表 3；表 2 待补测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26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15" name="Table 盈亏点"/>
          <p:cNvGraphicFramePr>
            <a:graphicFrameLocks noGrp="1"/>
          </p:cNvGraphicFramePr>
          <p:nvPr/>
        </p:nvGraphicFramePr>
        <p:xfrm>
          <a:off x="457200" y="4864608"/>
          <a:ext cx="7315200" cy="1444752"/>
        </p:xfrm>
        <a:graphic>
          <a:graphicData uri="http://schemas.openxmlformats.org/drawingml/2006/table">
            <a:tbl>
              <a:tblPr firstRow="1"/>
              <a:tblGrid>
                <a:gridCol w="1965960"/>
                <a:gridCol w="1234440"/>
                <a:gridCol w="3017520"/>
                <a:gridCol w="1097280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扫描方向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扫描范围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已知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盈亏点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客户端算力（相对 x86 降速）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1× – 1000×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4.1×（Pi5）时选择不变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950" b="0" i="0">
                        <a:solidFill>
                          <a:srgbClr val="D64545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带宽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 – 100 Mbps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 Mbps 下 K_h* 恒为 0（E3 模型）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950" b="0" i="0">
                        <a:solidFill>
                          <a:srgbClr val="D64545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RTT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 – 500 ms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 / UCI 50 Mbps 下 K_h* 2→1→0（E3 模型）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950" b="0" i="0">
                        <a:solidFill>
                          <a:srgbClr val="D64545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客户端内存预算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 GB – 64 MB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纯同态峰值 112.6 MB；hybrid 增量未测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950" b="0" i="0">
                        <a:solidFill>
                          <a:srgbClr val="D64545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E9 极端网络场景：实验目的与实验思路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从“公式推导”改为“真实网络测量”：用 tc netem 实测各调度在丢包与抖动下的放大倍数，每种链路选 p95 最低且达到精度下限的调度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20243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方案设计：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丢包率 {0, 1, 5%} × 抖动 {0, ±30 ms} × 3 档链路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预期（由实测决定）：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轮数多的 Hybrid-all 受影响最大，Adaptive 最稳；如果 hybrid 层少的调度放大倍数更小，低交互的价值就有了真实证据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D645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旧版的问题：</a:t>
            </a:r>
            <a:r>
              <a:rPr lang="zh-CN" sz="1200" b="0" i="0">
                <a:solidFill>
                  <a:srgbClr val="D645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解析模型把约 900 KB 的密文当成一个包，一次丢包只算一次重传，大幅低估丢包影响；“5% 丢包只多 0.25 秒”不成立，解析模型与结果整体删除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协议依据：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 §12“轮数可控性”：s = 00 时 2 次往返，每个 hybrid 层加 r_h（实测 6.02）次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验收：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每个调度报放大倍数 = 劣化链路 p50 / p95 ÷ 理想链路；每种链路给出 p95 最低且达到精度下限的调度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实验思路：怎么实现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ounded Rectangle"/>
          <p:cNvSpPr/>
          <p:nvPr/>
        </p:nvSpPr>
        <p:spPr>
          <a:xfrm>
            <a:off x="5760720" y="4432401"/>
            <a:ext cx="5806440" cy="118872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897880" y="4468977"/>
            <a:ext cx="5577840" cy="11155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为什么删掉解析模型：</a:t>
            </a:r>
            <a:r>
              <a:rPr lang="zh-CN" sz="115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旧公式 E[T] = C + R·RTT / (1 − p) 默认每次往返只有一个包。一条约 900 KB 的密文要拆成约 630 个 TCP 段（MSS 1448 B），任一段丢失都要重传，丢包多时还会拥塞退避，代价随字节数增长，而不只随往返次数增长，所以放大倍数只能实测。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依据：实验方案 §7 E9；协议设计 §12；旧 results/E9/（解析模型 972 行）已撤回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27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Oval 10"/>
          <p:cNvSpPr/>
          <p:nvPr/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11"/>
          <p:cNvSpPr txBox="1"/>
          <p:nvPr/>
        </p:nvSpPr>
        <p:spPr>
          <a:xfrm>
            <a:off x="6144768" y="2057400"/>
            <a:ext cx="5422392" cy="46573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环境：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客户端与服务器分进程（尽量分机），tc netem 在网卡上注入时延、丢包和抖动，同时记录 TCP 重传数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Oval 10"/>
          <p:cNvSpPr/>
          <p:nvPr/>
        </p:nvSpPr>
        <p:spPr>
          <a:xfrm>
            <a:off x="5760720" y="2669438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11"/>
          <p:cNvSpPr txBox="1"/>
          <p:nvPr/>
        </p:nvSpPr>
        <p:spPr>
          <a:xfrm>
            <a:off x="6144768" y="2632862"/>
            <a:ext cx="5422392" cy="46573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网格：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 数据集 × 4 调度（s00 / s01 / s10 / s11）× 3 丢包 × 2 抖动 × 3 档链路；每点预热 1 次后采样 ≥ 20 次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Oval 10"/>
          <p:cNvSpPr/>
          <p:nvPr/>
        </p:nvSpPr>
        <p:spPr>
          <a:xfrm>
            <a:off x="5760720" y="3244900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11"/>
          <p:cNvSpPr txBox="1"/>
          <p:nvPr/>
        </p:nvSpPr>
        <p:spPr>
          <a:xfrm>
            <a:off x="6144768" y="3208324"/>
            <a:ext cx="5422392" cy="46573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指标：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端到端 p50 / p95 与放大倍数；baseline 与 compact 两种线格式各测一遍（字节少，重传也少）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Oval 10"/>
          <p:cNvSpPr/>
          <p:nvPr/>
        </p:nvSpPr>
        <p:spPr>
          <a:xfrm>
            <a:off x="5760720" y="3820363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Box 11"/>
          <p:cNvSpPr txBox="1"/>
          <p:nvPr/>
        </p:nvSpPr>
        <p:spPr>
          <a:xfrm>
            <a:off x="6144768" y="3783787"/>
            <a:ext cx="5422392" cy="46573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选调度：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每种链路选 p95 最低且达标的调度，与只看平均时延的 Planner 选择对比，看丢包会不会改变最优调度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E9 实验数据：丢包与抖动下的放大倍数（netem 实测待补测）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旧解析模型的时延结果整体撤回（把约 900 KB 密文当成一个包，低估了丢包）；只保留仍然成立的往返次数，其余待 netem 实测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486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s11 每次查询的端到端放大（RTT 100 ms，10 Mbps；netem 实测）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27632"/>
          <a:ext cx="5486400" cy="141732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3108960"/>
                <a:gridCol w="1188720"/>
                <a:gridCol w="1188720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条件（RTT 100 ms，10 Mbps）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p50 放大倍数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p95 放大倍数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不丢包、无抖动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1.0（基线）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1.0（基线）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不丢包，抖动 ±30 ms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丢包 1%，抖动 ±30 ms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丢包 5%，抖动 ±30 ms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80"/>
            <a:ext cx="54864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每种链路下 p95 最低且达到精度下限的调度（待补测）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456432"/>
          <a:ext cx="5486400" cy="113385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371600"/>
                <a:gridCol w="2011680"/>
                <a:gridCol w="2103120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数据集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 Mbps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100 Mbps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72200" y="1325880"/>
            <a:ext cx="55778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3  往返次数（仍成立）与放大倍数（待补测；5% 丢包，±30 ms）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72200" y="1627632"/>
          <a:ext cx="5577840" cy="15087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377440"/>
                <a:gridCol w="731520"/>
                <a:gridCol w="1188720"/>
                <a:gridCol w="1280160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方案（s11）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往返次数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p50 放大倍数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p95 放大倍数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实测 r_h = 6.02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14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文献估算 r_h = 7（log ℓ+2）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旧原型逐元素 OT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218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D64545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待补测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72200" y="3270000"/>
            <a:ext cx="5577840" cy="33147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说明：往返次数由实测 r_h 与协议结构决定，与丢包模型无关，保留；时延列原为解析模型值，已撤回。“文献估算”与“旧原型”两行仅作往返数对照。</a:t>
            </a:r>
            <a:endParaRPr lang="zh-CN" sz="95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Verdict"/>
          <p:cNvSpPr/>
          <p:nvPr/>
        </p:nvSpPr>
        <p:spPr>
          <a:xfrm>
            <a:off x="6172200" y="3703320"/>
            <a:ext cx="5577840" cy="269748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Verdict pill"/>
          <p:cNvSpPr/>
          <p:nvPr/>
        </p:nvSpPr>
        <p:spPr>
          <a:xfrm>
            <a:off x="6355080" y="3849624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待补测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95360" y="3831335"/>
            <a:ext cx="2971799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080" y="4270248"/>
            <a:ext cx="5212079" cy="2057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4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撤回：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旧解析模型的全部时延数，包括“5% 丢包平均多 74 ms、p95 多 254 ms”和“丢包不改变 K_h*”。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4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保留：</a:t>
            </a:r>
            <a:r>
              <a:rPr lang="zh-CN" sz="10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s11 每次查询 14 次往返（r_h = 6.02 实测）；旧原型逐元素 OT 218 次。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4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50" b="1" i="0">
                <a:solidFill>
                  <a:srgbClr val="D645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待补测：</a:t>
            </a:r>
            <a:r>
              <a:rPr lang="zh-CN" sz="1050" b="0" i="0">
                <a:solidFill>
                  <a:srgbClr val="D6454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netem 网格 3 数据集 × 4 调度 × 3 丢包 × 2 抖动 × 3 档链路；每种链路的最优调度；compact 线格式能否减小放大倍数。</a:t>
            </a:r>
            <a:endParaRPr lang="zh-CN" sz="10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5486400" cy="51625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1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为什么撤回：</a:t>
            </a:r>
            <a:r>
              <a:rPr lang="zh-CN" sz="10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一条约 900 KB 的密文约 630 个 TCP 段，旧公式按“每次往返一个包”计重传，丢包越多低估越严重；“MNIST s11 在 5% 丢包下只多 0.8%”同样不作数。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旧数据：results/E9/e9_robustness.csv（解析模型，已撤回）；新数据待 netem 实测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28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 泄漏量化：实验目的与实验思路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把多查询安全从“我们遵守 M1–M3”升级为“量化证据”：复用掩码完全泄露、新鲜掩码 + 输出最小化时攻击退化为随机猜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Card 实验目的：要证明什么"/>
          <p:cNvSpPr/>
          <p:nvPr/>
        </p:nvSpPr>
        <p:spPr>
          <a:xfrm>
            <a:off x="457200" y="1417320"/>
            <a:ext cx="4892040" cy="493776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4008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0704" y="1545336"/>
            <a:ext cx="4105655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实验目的：要证明什么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984248"/>
            <a:ext cx="4526279" cy="42793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对应假设 H6：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新鲜掩码下成员推理 AUC ≈ 0.5；掩码复用（对照）显著泄露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三个子实验：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E10a 掩码复用攻击；E10b 成员推理（全 logits vs 仅类别索引）；E10c 调度混淆（dummy-round）的额外开销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协议依据：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协议 §8 掩码规则：M1 一次性 r = PRG(seed, q‖k)；M2 掩码域覆盖激活域；M3 计数器失步即中止重新 Setup。§9 输出档位 A（logits）/ B（只给索引）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6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本轮修复：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M2 掩码域改为 ±2^σ·B_k（σ=36–39），对照组保留旧规则 v1；E10b 修了并列秩 bug，并修了采样混淆：成员/非成员按类别分层抽样、训练与评估集不重叠、增加 200 次置换检验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2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验收：</a:t>
            </a:r>
            <a:r>
              <a:rPr lang="zh-CN" sz="12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复用时恢复误差 ≈ 0；新鲜时为随机；仅索引 AUC 与置换零分布无显著差异；全 logits 是否显著 &gt; 0.5 看实测；5 种子</a:t>
            </a:r>
            <a:endParaRPr lang="zh-CN" sz="12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532120" y="1417320"/>
            <a:ext cx="6217920" cy="4937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5715000" y="1572768"/>
            <a:ext cx="329184" cy="329184"/>
          </a:xfrm>
          <a:prstGeom prst="ellipse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35624" y="1545336"/>
            <a:ext cx="5486400" cy="38404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5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实验思路：怎么实现</a:t>
            </a:r>
            <a:endParaRPr lang="zh-CN" sz="15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760720" y="209397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144768" y="205740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E10a：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Q = 200 次查询，对照组故意让同一层复用 r，攻击者用两次掩码值之差恢复激活差分，度量残差/相对误差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760720" y="273405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44768" y="2697480"/>
            <a:ext cx="542239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E10b：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影子模型式成员推理，300 成员 + 300 非成员，攻击特征分别取全 logits 与仅 argmax 索引，报告 AUC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60720" y="337413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44768" y="333756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E10c：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开/关调度混淆：纯同态层也走一整段 hybrid（含 SCI 流量），统计额外往返、字节与时延（本轮暂缓，见下一页的估算）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760720" y="3831336"/>
            <a:ext cx="292608" cy="292608"/>
          </a:xfrm>
          <a:prstGeom prst="ellipse">
            <a:avLst/>
          </a:prstGeom>
          <a:solidFill>
            <a:srgbClr val="3D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zh-CN" sz="11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</a:t>
            </a:r>
            <a:endParaRPr lang="zh-CN" sz="11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44768" y="3794760"/>
            <a:ext cx="5422392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zh-CN" sz="11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运行：  </a:t>
            </a:r>
            <a:r>
              <a:rPr lang="zh-CN" sz="11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SEAL 4.1.2 HE-only，3 数据集 × 5 种子（73–77）</a:t>
            </a:r>
            <a:endParaRPr lang="zh-CN" sz="11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760720" y="4297680"/>
            <a:ext cx="1737360" cy="56692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查询 1：z₁ + r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760720" y="4956048"/>
            <a:ext cx="1737360" cy="566928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查询 2：z₂ + r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7543800" y="4581144"/>
            <a:ext cx="548640" cy="320040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543800" y="4937760"/>
            <a:ext cx="548640" cy="301752"/>
          </a:xfrm>
          <a:prstGeom prst="line">
            <a:avLst/>
          </a:prstGeom>
          <a:ln w="22225">
            <a:solidFill>
              <a:srgbClr val="3D8D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38160" y="4599432"/>
            <a:ext cx="1463040" cy="621792"/>
          </a:xfrm>
          <a:prstGeom prst="roundRect">
            <a:avLst>
              <a:gd name="adj" fmla="val 6000"/>
            </a:avLst>
          </a:prstGeom>
          <a:solidFill>
            <a:srgbClr val="FC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spcAft>
                <a:spcPts val="100"/>
              </a:spcAft>
            </a:pPr>
            <a:r>
              <a:rPr lang="zh-CN" sz="10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相减</a:t>
            </a:r>
            <a:endParaRPr lang="zh-CN" sz="10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spcAft>
                <a:spcPts val="100"/>
              </a:spcAft>
            </a:pPr>
            <a:r>
              <a:rPr lang="zh-CN" sz="1000" b="0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= z₁ − z₂</a:t>
            </a:r>
            <a:endParaRPr lang="zh-CN" sz="1000" b="0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92640" y="4480560"/>
            <a:ext cx="1874519" cy="914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5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复用同一个 r：掩码完全抵消，激活差分直接暴露；新鲜 r：差值仍被随机掩码覆盖</a:t>
            </a:r>
            <a:endParaRPr lang="zh-CN" sz="95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脚本：analysis/leak_quant.py（c7e9e3d 修后）、leakage_budget.py、mask_session.py、export_mask_domains.py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29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 实验数据：掩码复用攻击、成员推理与调度混淆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复用掩码时激活差分被精确恢复（误差 ≈1e-8）；新鲜掩码下单次符号恢复率 50.0%。成员推理 AUC 的旧数（UCI 0.58 / 0.74）因采样混淆撤回，本机初测：仅索引≈随机，全 logits 只有 CIFAR 稳健泄露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69494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E10a/E10b（5 种子；AUC 0.5 = 瞎猜；误差越小 = 泄露越多）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27632"/>
          <a:ext cx="6949439" cy="124358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097280"/>
                <a:gridCol w="1371599"/>
                <a:gridCol w="1463040"/>
                <a:gridCol w="1508760"/>
                <a:gridCol w="15087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数据集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复用掩码：恢复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差分的误差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新鲜掩码：单次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符号恢复率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AUC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（全部 logits）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AUC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（仅类别索引）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4.7e-09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50.0%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0.490–0.553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0.493–0.505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2.2e-08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50.0%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0.674–0.698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0.498–0.542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2.6e-08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50.0%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0.495–0.574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0.499–0.516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063240"/>
            <a:ext cx="694944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E10c 调度混淆开销（解析估算：r_h=6.02 + E4 字节；未实测）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364992"/>
          <a:ext cx="6949436" cy="1150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731519"/>
                <a:gridCol w="1280159"/>
                <a:gridCol w="2011679"/>
                <a:gridCol w="2926079"/>
              </a:tblGrid>
              <a:tr h="40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hybrid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l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层数 K_h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额外往返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次数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额外字节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（上传+下载）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额外时延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@RTT 50 ms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12.0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3.41 MB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602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6.0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1.70 MB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301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25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0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</a:t>
                      </a:r>
                      <a:endParaRPr lang="zh-CN" sz="100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0.00 MB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0 ms</a:t>
                      </a:r>
                      <a:endParaRPr lang="zh-CN" sz="100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650000"/>
            <a:ext cx="6949440" cy="52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E10c 仍是估算：每个纯同态层要补一整段 hybrid（①+②+SCI），所以额外开销 = 层数 × 6.02 往返 + 约 1.7 MB（baseline 线格式）；3 数据集 × 4 调度的实测本轮暂缓。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Verdict"/>
          <p:cNvSpPr/>
          <p:nvPr/>
        </p:nvSpPr>
        <p:spPr>
          <a:xfrm>
            <a:off x="7635240" y="3977639"/>
            <a:ext cx="4114800" cy="242316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Verdict pill"/>
          <p:cNvSpPr/>
          <p:nvPr/>
        </p:nvSpPr>
        <p:spPr>
          <a:xfrm>
            <a:off x="7818119" y="4123944"/>
            <a:ext cx="2103120" cy="329184"/>
          </a:xfrm>
          <a:prstGeom prst="roundRect">
            <a:avLst>
              <a:gd name="adj" fmla="val 50000"/>
            </a:avLst>
          </a:prstGeom>
          <a:solidFill>
            <a:srgbClr val="C9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36576" rIns="18288" bIns="36576" rtlCol="0" anchor="ctr"/>
          <a:lstStyle/>
          <a:p>
            <a:pPr algn="ctr"/>
            <a:r>
              <a:rPr lang="zh-CN" sz="1200" b="1" i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E10a 达到，E10b 待重跑</a:t>
            </a:r>
            <a:endParaRPr lang="zh-CN" sz="1200" b="1" i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0" y="4105655"/>
            <a:ext cx="150876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是否达到要求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18119" y="4544568"/>
            <a:ext cx="3749039" cy="167005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达到：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H6 的第一条成立——复用掩码精确泄露、新鲜掩码(v2)下符号恢复率 50.0%；M2 已按 ±2^σ·B_k 修复并重测，3 数据集 × 5 种子齐全。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待重跑：第二条（输出最小化）——本机初测：仅索引 AUC 三个数据集都与置换零分布一致（各 1/5 种子 p&lt;0.05，接近多重检验期望）；全 logits 只有 CIFAR 稳健 &gt;0.5（0.67–0.70），MNIST ≈0.52、UCI ≈0.54</a:t>
            </a:r>
            <a:r>
              <a:rPr lang="en-US" alt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.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marL="164465" indent="-146050" algn="l">
              <a:spcAft>
                <a:spcPts val="300"/>
              </a:spcAft>
              <a:buClr>
                <a:srgbClr val="3D8DFF"/>
              </a:buClr>
              <a:buFont typeface="Arial" panose="020B0604020202020204"/>
              <a:buChar char="•"/>
            </a:pP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仍缺：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E10b 修后数据落盘；E10c 实测；统计强度 2^-30/查询（见下一页补充）。调度混淆只防网络观察者，对服务器无意义。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5230000"/>
            <a:ext cx="6949440" cy="117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怎么读：复用组中 (z₁+r)−(z₂+r) 精确等于 z₁−z₂，激活差分完全暴露——这是 M1“必须一次性”的证据。成员推理一栏是修后脚本的本机初测，不是已落盘数据：仅索引档与随机无差异，说明输出档位 B 能把成员推理压回噪声；全 logits 泄露随过拟合程度变（CIFAR 最大）。旧结论（含“AUC 0.45 是噪声”“UCI 最易泄露”）全部作废。</a:t>
            </a:r>
            <a:endParaRPr lang="zh-CN" sz="10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数据：E10a 来自 results/raw_results/E10/all/summary_5seeds.json；E10b 区间来自 docs/审阅_P1P2代码_2026-10-29.md §5.1（本机验证，未落盘）；E10c 为解析估算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30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Card AUC"/>
          <p:cNvSpPr/>
          <p:nvPr/>
        </p:nvSpPr>
        <p:spPr>
          <a:xfrm>
            <a:off x="7635240" y="1371600"/>
            <a:ext cx="4114800" cy="2468880"/>
          </a:xfrm>
          <a:prstGeom prst="roundRect">
            <a:avLst>
              <a:gd name="adj" fmla="val 6000"/>
            </a:avLst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"/>
          <p:cNvSpPr txBox="1"/>
          <p:nvPr/>
        </p:nvSpPr>
        <p:spPr>
          <a:xfrm>
            <a:off x="7755240" y="1431600"/>
            <a:ext cx="3874800" cy="33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2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旧 AUC 为什么撤回</a:t>
            </a:r>
            <a:endParaRPr lang="zh-CN" sz="12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"/>
          <p:cNvSpPr txBox="1"/>
          <p:nvPr/>
        </p:nvSpPr>
        <p:spPr>
          <a:xfrm>
            <a:off x="7755240" y="1771600"/>
            <a:ext cx="3874800" cy="123126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9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采样混淆：</a:t>
            </a: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旧脚本取“前 n 条”。UCI 测试集按受试者/动作排序，攻击学到的是类别先验，不是成员信号。</a:t>
            </a:r>
            <a:endParaRPr lang="zh-CN" sz="9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lang="zh-CN" sz="9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对半切偏差：</a:t>
            </a: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只修采样后，UCI 仅索引变成 0.449–0.487（全部 &lt;0.5），原因是训练/评估取自同一批样本。</a:t>
            </a:r>
            <a:endParaRPr lang="zh-CN" sz="9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lang="zh-CN" sz="9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已修：</a:t>
            </a: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类别分层抽样、训练/评估集不重叠、200 次置换检验。本机初测见左表，未落盘</a:t>
            </a:r>
            <a:endParaRPr lang="zh-CN" sz="9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400"/>
              </a:spcAft>
            </a:pPr>
            <a:r>
              <a:rPr lang="zh-CN" sz="95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被撤回的旧数：</a:t>
            </a:r>
            <a:r>
              <a:rPr lang="zh-CN" sz="95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UCI 仅索引 0.581、全 logits 0.740；“UCI 最易泄露”。</a:t>
            </a:r>
            <a:endParaRPr lang="zh-CN" sz="95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E10 补充：M2 掩码域修复与统计强度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掩码域从“训练范围 + 5%”改为 ±2^σ·B_k 后，单次查询的符号恢复率回到 50%；统计距离约 2^-30/查询，约 800–2000 次查询后需要重新 Setup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数据：results/raw_results/E10/*/mask_fresh_layer*、mask_fresh_v1_layer1（5 种子）；analysis/mask_session.py；docs/审阅_P1P2代码_2026-10-29.md §3-H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31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Card 说明"/>
          <p:cNvSpPr/>
          <p:nvPr/>
        </p:nvSpPr>
        <p:spPr>
          <a:xfrm>
            <a:off x="457200" y="1417320"/>
            <a:ext cx="4500000" cy="4960000"/>
          </a:xfrm>
          <a:prstGeom prst="roundRect">
            <a:avLst>
              <a:gd name="adj" fmla="val 6000"/>
            </a:avLst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"/>
          <p:cNvSpPr txBox="1"/>
          <p:nvPr/>
        </p:nvSpPr>
        <p:spPr>
          <a:xfrm>
            <a:off x="607200" y="1480000"/>
            <a:ext cx="4200000" cy="33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改了什么、为什么这样改</a:t>
            </a:r>
            <a:endParaRPr lang="zh-CN" sz="13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Box"/>
          <p:cNvSpPr txBox="1"/>
          <p:nvPr/>
        </p:nvSpPr>
        <p:spPr>
          <a:xfrm>
            <a:off x="607200" y="1850000"/>
            <a:ext cx="4200000" cy="45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0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旧规则（v1）：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掩码取训练激活的观察范围 + 5%。攻击者看到 z+r 时，r 的范围几乎等于 z 的范围，符号可以猜对 54–55%——只有弱的统计隐藏。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新规则（v2）：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掩码在 2^-8 网格上均匀取自 [−A_k, A_k)，A_k = 2^σ_k · B_k，B_k 是不小于 1.25×最大激活的 2 的幂。σ_k 越大，z+r 越接近纯均匀。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σ 为什么只有 36–39：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客户端用 double 解码 z+r，只有 53 位有效数字。实测 |r| ≤ 2^44 时解码误差在噪声水平，2^48 开始失真，所以把 A_k 封顶在 2^42。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代价：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统计强度低于协议 §1.2 写的 64–80 bit，需要在约 800–2000 次查询后重新 Setup。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spcAft>
                <a:spcPts val="300"/>
              </a:spcAft>
            </a:pPr>
            <a:r>
              <a:rPr lang="zh-CN" sz="1000" b="1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后期改进（代码已写，待实测）：</a:t>
            </a:r>
            <a:r>
              <a:rPr lang="zh-CN" sz="1000" b="0" i="0">
                <a:solidFill>
                  <a:srgbClr val="3D3D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用 double-double（106 位）精度做 CKKS 编解码，绕开 double 在 2^42 处的上限，σ 从约 37 提到 60–70；预计每次查询统计距离约 2^-61 至 2^-63，总距离 ≤ 2^-40 时可查约 160 万–670 万次，每个 hybrid 层多传约 70 KB（均为估算）。</a:t>
            </a:r>
            <a:endParaRPr lang="zh-CN" sz="1000" b="0" i="0">
              <a:solidFill>
                <a:srgbClr val="3D3D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Box"/>
          <p:cNvSpPr txBox="1"/>
          <p:nvPr/>
        </p:nvSpPr>
        <p:spPr>
          <a:xfrm>
            <a:off x="5150000" y="1325880"/>
            <a:ext cx="66000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1  每个数据集的掩码域与统计强度（seed73）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23" name="Table M2"/>
          <p:cNvGraphicFramePr>
            <a:graphicFrameLocks noGrp="1"/>
          </p:cNvGraphicFramePr>
          <p:nvPr/>
        </p:nvGraphicFramePr>
        <p:xfrm>
          <a:off x="5150000" y="1650000"/>
          <a:ext cx="6600000" cy="1680000"/>
        </p:xfrm>
        <a:graphic>
          <a:graphicData uri="http://schemas.openxmlformats.org/drawingml/2006/table">
            <a:tbl>
              <a:tblPr firstRow="1"/>
              <a:tblGrid>
                <a:gridCol w="1100000"/>
                <a:gridCol w="1400000"/>
                <a:gridCol w="1400000"/>
                <a:gridCol w="1200000"/>
                <a:gridCol w="1500000"/>
              </a:tblGrid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数据集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第 1 层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元素数 / 界 B / σ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第 2 层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元素数 / 界 B / σ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每次查询的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统计距离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Q_max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（累计距离 ≤ 2^-20）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256 / 16 / 38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64 / 32 / 37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2^-31.0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2064 次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1200 / 8 / 39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128 / 64 / 36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2^-29.6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783 次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756 / 16 / 38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128 / 64 / 36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2^-29.8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917 次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"/>
          <p:cNvSpPr txBox="1"/>
          <p:nvPr/>
        </p:nvSpPr>
        <p:spPr>
          <a:xfrm>
            <a:off x="5150000" y="3480000"/>
            <a:ext cx="6600000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15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 2  复用 / 新鲜(v2) / 旧规则(v1)：攻击者的收获（5 种子）</a:t>
            </a:r>
            <a:endParaRPr lang="zh-CN" sz="115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25" name="Table 泄露"/>
          <p:cNvGraphicFramePr>
            <a:graphicFrameLocks noGrp="1"/>
          </p:cNvGraphicFramePr>
          <p:nvPr/>
        </p:nvGraphicFramePr>
        <p:xfrm>
          <a:off x="5150000" y="3800000"/>
          <a:ext cx="6600000" cy="1680000"/>
        </p:xfrm>
        <a:graphic>
          <a:graphicData uri="http://schemas.openxmlformats.org/drawingml/2006/table">
            <a:tbl>
              <a:tblPr firstRow="1"/>
              <a:tblGrid>
                <a:gridCol w="1100000"/>
                <a:gridCol w="2200000"/>
                <a:gridCol w="1650000"/>
                <a:gridCol w="1650000"/>
              </a:tblGrid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数据集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复用同一掩码：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恢复激活差分的误差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新鲜掩码 v2：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单次符号恢复率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旧规则 v1：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  <a:p>
                      <a:pPr algn="ctr"/>
                      <a:r>
                        <a:rPr lang="zh-CN" sz="95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单次符号恢复率</a:t>
                      </a:r>
                      <a:endParaRPr lang="zh-CN" sz="95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MNIST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4.7e-09（≈ 精确恢复）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50.0% ± 0.4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54.0% ± 0.2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CIFAR-10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2.2e-08（≈ 精确恢复）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50.0% ± 0.1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54.5% ± 0.1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UCI-HAR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2.6e-08（≈ 精确恢复）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50.0% ± 0.2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54.6% ± 0.1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"/>
          <p:cNvSpPr txBox="1"/>
          <p:nvPr/>
        </p:nvSpPr>
        <p:spPr>
          <a:xfrm>
            <a:off x="5150000" y="5560000"/>
            <a:ext cx="6600000" cy="8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5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说明：50% = 瞎猜。复用组的误差约 1e-8，是 double 在 2^42 量级掩码下的精度极限，意味着差分被精确恢复；结论与上一版相同，只是数字从 1e-16 变为 1e-8。ECG 每分钟上传约 1440 次/天，按 Q_max ≈ 800–2000 计，大约一天就要重新 Setup。</a:t>
            </a:r>
            <a:endParaRPr lang="zh-CN" sz="95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92608"/>
            <a:ext cx="11274552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2400" b="1" i="0">
                <a:solidFill>
                  <a:srgbClr val="1F242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总述：未完成点、原因与下一步</a:t>
            </a:r>
            <a:endParaRPr lang="zh-CN" sz="2400" b="1" i="0">
              <a:solidFill>
                <a:srgbClr val="1F242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KeyMessage"/>
          <p:cNvSpPr txBox="1"/>
          <p:nvPr/>
        </p:nvSpPr>
        <p:spPr>
          <a:xfrm>
            <a:off x="457200" y="841248"/>
            <a:ext cx="11274552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1300" b="0" i="0">
                <a:solidFill>
                  <a:srgbClr val="6B728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已经扎实的：密文正确性（E1）、客户端计算时间（E2，Pi5）、字节与压缩实测（E4）、Delphi 复现、r_h 实测、掩码复用泄漏（E10a）；客户端内存约 112 MB（Delphi 的 1/3）；已撤回待重跑：成员推理 AUC（E10b）；最大的新问题：r_h = 6.02、M2 统计强度约 2^-30/查询</a:t>
            </a:r>
            <a:endParaRPr lang="zh-CN" sz="1300" b="0" i="0">
              <a:solidFill>
                <a:srgbClr val="6B728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92840" cy="4882896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594360"/>
                <a:gridCol w="2331720"/>
                <a:gridCol w="2194560"/>
                <a:gridCol w="2331720"/>
                <a:gridCol w="3840480"/>
              </a:tblGrid>
              <a:tr h="310896">
                <a:tc>
                  <a:txBody>
                    <a:bodyPr wrap="square"/>
                    <a:lstStyle/>
                    <a:p>
                      <a:pPr algn="ctr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优先级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未完成点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影响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原因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1000" b="1" i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下一步</a:t>
                      </a:r>
                      <a:endParaRPr lang="zh-CN" sz="1000" b="1" i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3D8D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P0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C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r_h = 6.02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全混合一次查询 14 次往返（设计值 4）；“低交互”卖点被削弱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SCI 内部 OT 每层约 5 次往返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论文改用实测口径；评估能否压到 ≤3 轮的 ReLU 协议；卖点转到字节与无逐次预处理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P0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C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M2 统计强度约 2^-30/查询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安全声明要写成“统计距离 + Q_max（约 800–2000 次）”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double 解码只有 53 位有效数字，σ ≤ 39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double-double 精度 CKKS 编解码（代码已写，待实测）：σ 37→60–70，预计 ≈2^-61/查询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P1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C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深网无密文实现；P₂→卷积重排未做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VGG 的 00100 当前不可执行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现有 HE 路径只有单通道 im2col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① 卷积前激活固定走 hybrid，接通深网前向；② P₂→卷积打包卷积（代码已写，待实测）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P1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压缩线格式的延迟收益未测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字节 −74% 还没有换算成延迟/能耗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只测了序列化字节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在 Pi5 上用 compact 档重跑 E2/E3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P1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E3 全网格 216 点、E9 netem 实测（新设计）、E1 抽查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E9 旧解析结果已撤回，需实测替代；E3 曲线仍是模型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耗时（约 2.3 h + 3.3 h + 全网格）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E9 优先补测，其余时间允许时补跑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P1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E10b 旧 AUC 撤回待重跑；E10c 混淆调度未实测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H6 第二条无落盘数据；E10c 只有估算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采样混淆 + 对半切偏差（已修脚本）；E10c 暂缓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重跑 leak_quant.py（3×5）；E10c 3 数据集 × 4 调度实测；论文只引新数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P2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DF3E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E6 能耗、Pi4、hybrid 内存增量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Fig. 7、Table 10 的内存约束空缺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无功率计、无 Pi4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采购/借用；拆进程测 hybrid 内存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P2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E7 去掉客户端感知、E8 盈亏点扫描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E7 关键反弹证据与 E8 结论都还是待补测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conv3 密文实现未完成；Pi4 未到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conv3 打通后实测；先跑算力 / 网络 / 内存扫描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lang="zh-CN" sz="950" b="1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P2</a:t>
                      </a:r>
                      <a:endParaRPr lang="zh-CN" sz="950" b="1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1F2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环境口径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实现表与方案不一致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运行时是 litepi_sci（非远端 CrypTFlow2）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lang="zh-CN" sz="950" b="0" i="0">
                          <a:solidFill>
                            <a:srgbClr val="3D3D3D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论文实现表如实标注；协议 §6 字节表、§4 的 r_h 同步更新</a:t>
                      </a:r>
                      <a:endParaRPr lang="zh-CN" sz="950" b="0" i="0">
                        <a:solidFill>
                          <a:srgbClr val="3D3D3D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54864" marR="54864" marT="22860" marB="22860" anchor="ctr">
                    <a:lnL w="6350" cap="flat" cmpd="sng" algn="ctr">
                      <a:solidFill>
                        <a:srgbClr val="D5DCE6"/>
                      </a:solidFill>
                      <a:prstDash val="soli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ource"/>
          <p:cNvSpPr txBox="1"/>
          <p:nvPr/>
        </p:nvSpPr>
        <p:spPr>
          <a:xfrm>
            <a:off x="457200" y="6473952"/>
            <a:ext cx="106070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数据与代码：MrWangneverplay/LitePI @ sci-backend 50043d7；对照文档：实验方案设计、LitePI 协议设计、论文草稿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" name="PageNo"/>
          <p:cNvSpPr txBox="1"/>
          <p:nvPr/>
        </p:nvSpPr>
        <p:spPr>
          <a:xfrm>
            <a:off x="11247120" y="6473952"/>
            <a:ext cx="5029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lang="zh-CN" sz="900" b="0" i="0">
                <a:solidFill>
                  <a:srgbClr val="8A929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32</a:t>
            </a:r>
            <a:endParaRPr lang="zh-CN" sz="900" b="0" i="0">
              <a:solidFill>
                <a:srgbClr val="8A929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0.64,&quot;left&quot;:453.6,&quot;top&quot;:162,&quot;width&quot;:457.2}"/>
</p:tagLst>
</file>

<file path=ppt/tags/tag2.xml><?xml version="1.0" encoding="utf-8"?>
<p:tagLst xmlns:p="http://schemas.openxmlformats.org/presentationml/2006/main">
  <p:tag name="KSO_WM_DIAGRAM_VIRTUALLY_FRAME" val="{&quot;height&quot;:260.64,&quot;left&quot;:453.6,&quot;top&quot;:162,&quot;width&quot;:457.2}"/>
</p:tagLst>
</file>

<file path=ppt/tags/tag3.xml><?xml version="1.0" encoding="utf-8"?>
<p:tagLst xmlns:p="http://schemas.openxmlformats.org/presentationml/2006/main">
  <p:tag name="KSO_WM_DIAGRAM_VIRTUALLY_FRAME" val="{&quot;height&quot;:260.64,&quot;left&quot;:453.6,&quot;top&quot;:162,&quot;width&quot;:457.2}"/>
</p:tagLst>
</file>

<file path=ppt/tags/tag4.xml><?xml version="1.0" encoding="utf-8"?>
<p:tagLst xmlns:p="http://schemas.openxmlformats.org/presentationml/2006/main">
  <p:tag name="KSO_WM_DIAGRAM_VIRTUALLY_FRAME" val="{&quot;height&quot;:260.64,&quot;left&quot;:453.6,&quot;top&quot;:162,&quot;width&quot;:457.2}"/>
</p:tagLst>
</file>

<file path=ppt/tags/tag5.xml><?xml version="1.0" encoding="utf-8"?>
<p:tagLst xmlns:p="http://schemas.openxmlformats.org/presentationml/2006/main">
  <p:tag name="KSO_WM_DIAGRAM_VIRTUALLY_FRAME" val="{&quot;height&quot;:260.64,&quot;left&quot;:453.6,&quot;top&quot;:162,&quot;width&quot;:457.2}"/>
</p:tagLst>
</file>

<file path=ppt/tags/tag6.xml><?xml version="1.0" encoding="utf-8"?>
<p:tagLst xmlns:p="http://schemas.openxmlformats.org/presentationml/2006/main">
  <p:tag name="KSO_WM_DIAGRAM_VIRTUALLY_FRAME" val="{&quot;height&quot;:260.64,&quot;left&quot;:453.6,&quot;top&quot;:162,&quot;width&quot;:457.2}"/>
</p:tagLst>
</file>

<file path=ppt/tags/tag7.xml><?xml version="1.0" encoding="utf-8"?>
<p:tagLst xmlns:p="http://schemas.openxmlformats.org/presentationml/2006/main">
  <p:tag name="KSO_WM_DIAGRAM_VIRTUALLY_FRAME" val="{&quot;height&quot;:260.64,&quot;left&quot;:453.6,&quot;top&quot;:162,&quot;width&quot;:457.2}"/>
</p:tagLst>
</file>

<file path=ppt/tags/tag8.xml><?xml version="1.0" encoding="utf-8"?>
<p:tagLst xmlns:p="http://schemas.openxmlformats.org/presentationml/2006/main">
  <p:tag name="KSO_WM_DIAGRAM_VIRTUALLY_FRAME" val="{&quot;height&quot;:260.64,&quot;left&quot;:453.6,&quot;top&quot;:162,&quot;width&quot;:457.2}"/>
</p:tagLst>
</file>

<file path=ppt/tags/tag9.xml><?xml version="1.0" encoding="utf-8"?>
<p:tagLst xmlns:p="http://schemas.openxmlformats.org/presentationml/2006/main">
  <p:tag name="KSO_WM_DIAGRAM_VIRTUALLY_FRAME" val="{&quot;height&quot;:260.64,&quot;left&quot;:453.6,&quot;top&quot;:162,&quot;width&quot;:457.2}"/>
</p:tagLst>
</file>

<file path=ppt/tags/tag10.xml><?xml version="1.0" encoding="utf-8"?>
<p:tagLst xmlns:p="http://schemas.openxmlformats.org/presentationml/2006/main">
  <p:tag name="KSO_WM_DIAGRAM_VIRTUALLY_FRAME" val="{&quot;height&quot;:260.64,&quot;left&quot;:453.6,&quot;top&quot;:162,&quot;width&quot;:457.2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31248</Words>
  <Application>WPS 演示</Application>
  <PresentationFormat>Converted Presentation</PresentationFormat>
  <Paragraphs>2934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6" baseType="lpstr">
      <vt:lpstr>Arial</vt:lpstr>
      <vt:lpstr>宋体</vt:lpstr>
      <vt:lpstr>Wingdings</vt:lpstr>
      <vt:lpstr>Helvetica Neue</vt:lpstr>
      <vt:lpstr>Arial</vt:lpstr>
      <vt:lpstr>微软雅黑</vt:lpstr>
      <vt:lpstr>KSOFF8957A5C</vt:lpstr>
      <vt:lpstr>SWAstro</vt:lpstr>
      <vt:lpstr>Arial Unicode MS</vt:lpstr>
      <vt:lpstr>Aptos</vt:lpstr>
      <vt:lpstr>Segoe UI</vt:lpstr>
      <vt:lpstr>KSOFF895EEBB</vt:lpstr>
      <vt:lpstr>MS PGothic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WPS_1671886272</cp:lastModifiedBy>
  <cp:revision>20</cp:revision>
  <dcterms:created xsi:type="dcterms:W3CDTF">2026-10-17T10:07:00Z</dcterms:created>
  <dcterms:modified xsi:type="dcterms:W3CDTF">2026-10-31T01:55:11Z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144A35E1CBB2411AB97C585367D96182_12</vt:lpwstr>
  </property>
</Properties>
</file>