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8" r:id="rId6"/>
    <p:sldId id="269" r:id="rId7"/>
    <p:sldId id="272" r:id="rId8"/>
    <p:sldId id="270" r:id="rId9"/>
    <p:sldId id="273" r:id="rId10"/>
    <p:sldId id="284" r:id="rId11"/>
    <p:sldId id="274" r:id="rId12"/>
    <p:sldId id="285" r:id="rId13"/>
    <p:sldId id="295" r:id="rId14"/>
    <p:sldId id="275" r:id="rId15"/>
    <p:sldId id="296" r:id="rId16"/>
    <p:sldId id="286" r:id="rId17"/>
    <p:sldId id="276" r:id="rId18"/>
    <p:sldId id="287" r:id="rId19"/>
    <p:sldId id="297" r:id="rId20"/>
    <p:sldId id="277" r:id="rId21"/>
    <p:sldId id="288" r:id="rId22"/>
    <p:sldId id="278" r:id="rId23"/>
    <p:sldId id="289" r:id="rId24"/>
    <p:sldId id="279" r:id="rId25"/>
    <p:sldId id="290" r:id="rId26"/>
    <p:sldId id="298" r:id="rId27"/>
    <p:sldId id="280" r:id="rId28"/>
    <p:sldId id="291" r:id="rId29"/>
    <p:sldId id="281" r:id="rId30"/>
    <p:sldId id="292" r:id="rId31"/>
    <p:sldId id="282" r:id="rId32"/>
    <p:sldId id="293" r:id="rId33"/>
    <p:sldId id="299" r:id="rId34"/>
    <p:sldId id="283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050" b="1"/>
              <a:t>每个 hybrid 层的往返数</a:t>
            </a:r>
            <a:endParaRPr sz="1050" b="1"/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①/② 交换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dLbls>
            <c:numFmt formatCode="0.0;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设计目标</c:v>
                </c:pt>
                <c:pt idx="1">
                  <c:v>MNIST</c:v>
                </c:pt>
                <c:pt idx="2">
                  <c:v>UCI-HAR</c:v>
                </c:pt>
                <c:pt idx="3">
                  <c:v>CIFAR-10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SCI 内部往返</c:v>
                </c:pt>
              </c:strCache>
            </c:strRef>
          </c:tx>
          <c:spPr>
            <a:solidFill>
              <a:srgbClr val="D64545"/>
            </a:solidFill>
          </c:spPr>
          <c:invertIfNegative val="0"/>
          <c:dLbls>
            <c:numFmt formatCode="0.0;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设计目标</c:v>
                </c:pt>
                <c:pt idx="1">
                  <c:v>MNIST</c:v>
                </c:pt>
                <c:pt idx="2">
                  <c:v>UCI-HAR</c:v>
                </c:pt>
                <c:pt idx="3">
                  <c:v>CIFAR-10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5.04</c:v>
                </c:pt>
                <c:pt idx="2">
                  <c:v>5.02</c:v>
                </c:pt>
                <c:pt idx="3">
                  <c:v>5.02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12700">
              <a:solidFill>
                <a:srgbClr val="E5E8EE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4fb6a04-17fe-41cc-9f64-6f7f98b41785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MNIST · 10 Mbps：L_e2e（s）随 RTT（ms）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s00 纯同态</c:v>
                </c:pt>
              </c:strCache>
            </c:strRef>
          </c:tx>
          <c:spPr>
            <a:ln w="28575" cap="rnd">
              <a:solidFill>
                <a:srgbClr val="8A929E"/>
              </a:solidFill>
              <a:prstDash val="solid"/>
              <a:round/>
            </a:ln>
          </c:spPr>
          <c:marker>
            <c:spPr>
              <a:solidFill>
                <a:srgbClr val="8A929E"/>
              </a:solidFill>
              <a:ln w="12700">
                <a:solidFill>
                  <a:srgbClr val="8A929E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5.01</c:v>
                </c:pt>
                <c:pt idx="1">
                  <c:v>5.02</c:v>
                </c:pt>
                <c:pt idx="2">
                  <c:v>5.05</c:v>
                </c:pt>
                <c:pt idx="3">
                  <c:v>5.11</c:v>
                </c:pt>
                <c:pt idx="4">
                  <c:v>5.21</c:v>
                </c:pt>
                <c:pt idx="5">
                  <c:v>5.41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s10（1 层 hybrid）</c:v>
                </c:pt>
              </c:strCache>
            </c:strRef>
          </c:tx>
          <c:spPr>
            <a:ln w="28575" cap="rnd">
              <a:solidFill>
                <a:srgbClr val="3D8DFF"/>
              </a:solidFill>
              <a:prstDash val="solid"/>
              <a:round/>
            </a:ln>
          </c:spPr>
          <c:marker>
            <c:spPr>
              <a:solidFill>
                <a:srgbClr val="3D8DFF"/>
              </a:solidFill>
              <a:ln w="12700">
                <a:solidFill>
                  <a:srgbClr val="3D8DFF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6.23</c:v>
                </c:pt>
                <c:pt idx="1">
                  <c:v>6.26</c:v>
                </c:pt>
                <c:pt idx="2">
                  <c:v>6.38</c:v>
                </c:pt>
                <c:pt idx="3">
                  <c:v>6.62</c:v>
                </c:pt>
                <c:pt idx="4">
                  <c:v>7.02</c:v>
                </c:pt>
                <c:pt idx="5">
                  <c:v>7.82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s11（2 层 hybrid）</c:v>
                </c:pt>
              </c:strCache>
            </c:strRef>
          </c:tx>
          <c:spPr>
            <a:ln w="28575" cap="rnd">
              <a:solidFill>
                <a:srgbClr val="1B2A4A"/>
              </a:solidFill>
              <a:prstDash val="solid"/>
              <a:round/>
            </a:ln>
          </c:spPr>
          <c:marker>
            <c:spPr>
              <a:solidFill>
                <a:srgbClr val="1B2A4A"/>
              </a:solidFill>
              <a:ln w="12700">
                <a:solidFill>
                  <a:srgbClr val="1B2A4A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7.44</c:v>
                </c:pt>
                <c:pt idx="1">
                  <c:v>7.5</c:v>
                </c:pt>
                <c:pt idx="2">
                  <c:v>7.71</c:v>
                </c:pt>
                <c:pt idx="3">
                  <c:v>8.13</c:v>
                </c:pt>
                <c:pt idx="4">
                  <c:v>8.83</c:v>
                </c:pt>
                <c:pt idx="5">
                  <c:v>10.24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.5"/>
          <c:min val="0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D3D3D"/>
              </a:solidFill>
              <a:latin typeface="Arial" panose="020B0604020202020204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4a83d74-dbcd-4c00-a0a8-b725c2d0c38d}"/>
      </c:ext>
    </c:extLst>
  </c:chart>
  <c:txPr>
    <a:bodyPr/>
    <a:lstStyle/>
    <a:p>
      <a:pPr>
        <a:defRPr lang="zh-CN" sz="1000">
          <a:solidFill>
            <a:srgbClr val="3D3D3D"/>
          </a:solidFill>
          <a:latin typeface="Arial" panose="020B0604020202020204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140" b="1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S_key（MB）vs 生成的最大旋转步 max_rot_pow；canonical 三网都需要到 2^11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密钥大小 (MB)</c:v>
                </c:pt>
              </c:strCache>
            </c:strRef>
          </c:tx>
          <c:spPr>
            <a:solidFill>
              <a:srgbClr val="9CC3FF"/>
            </a:solidFill>
          </c:spPr>
          <c:invertIfNegative val="0"/>
          <c:dPt>
            <c:idx val="11"/>
            <c:invertIfNegative val="0"/>
            <c:bubble3D val="0"/>
            <c:spPr>
              <a:solidFill>
                <a:srgbClr val="3D8DFF"/>
              </a:solidFill>
            </c:spPr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50" b="0" i="0" u="none" strike="noStrike" kern="1200" baseline="0">
                    <a:solidFill>
                      <a:srgbClr val="3D3D3D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2^0</c:v>
                </c:pt>
                <c:pt idx="1">
                  <c:v>2^1</c:v>
                </c:pt>
                <c:pt idx="2">
                  <c:v>2^2</c:v>
                </c:pt>
                <c:pt idx="3">
                  <c:v>2^3</c:v>
                </c:pt>
                <c:pt idx="4">
                  <c:v>2^4</c:v>
                </c:pt>
                <c:pt idx="5">
                  <c:v>2^5</c:v>
                </c:pt>
                <c:pt idx="6">
                  <c:v>2^6</c:v>
                </c:pt>
                <c:pt idx="7">
                  <c:v>2^7</c:v>
                </c:pt>
                <c:pt idx="8">
                  <c:v>2^8</c:v>
                </c:pt>
                <c:pt idx="9">
                  <c:v>2^9</c:v>
                </c:pt>
                <c:pt idx="10">
                  <c:v>2^10</c:v>
                </c:pt>
                <c:pt idx="11">
                  <c:v>2^11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23.1</c:v>
                </c:pt>
                <c:pt idx="1">
                  <c:v>37.8</c:v>
                </c:pt>
                <c:pt idx="2">
                  <c:v>52.5</c:v>
                </c:pt>
                <c:pt idx="3">
                  <c:v>67.2</c:v>
                </c:pt>
                <c:pt idx="4">
                  <c:v>81.9</c:v>
                </c:pt>
                <c:pt idx="5">
                  <c:v>96.5</c:v>
                </c:pt>
                <c:pt idx="6">
                  <c:v>111.2</c:v>
                </c:pt>
                <c:pt idx="7">
                  <c:v>125.9</c:v>
                </c:pt>
                <c:pt idx="8">
                  <c:v>140.6</c:v>
                </c:pt>
                <c:pt idx="9">
                  <c:v>155.3</c:v>
                </c:pt>
                <c:pt idx="10">
                  <c:v>170</c:v>
                </c:pt>
                <c:pt idx="11">
                  <c:v>177.3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  <a:round/>
            </a:ln>
          </c:spPr>
        </c:majorGridlines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1e4884a-9615-402e-b92e-40b490df9e22}"/>
      </c:ext>
    </c:extLst>
  </c:chart>
  <c:txPr>
    <a:bodyPr/>
    <a:lstStyle/>
    <a:p>
      <a:pPr>
        <a:defRPr lang="zh-CN" sz="950">
          <a:solidFill>
            <a:srgbClr val="3D3D3D"/>
          </a:solidFill>
          <a:latin typeface="Arial" panose="020B0604020202020204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050" b="1"/>
              <a:t>s11 每次查询上传+下载总量 (MB)</a:t>
            </a:r>
            <a:endParaRPr sz="1050" b="1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s11 每查询总字节 (MB)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seeded</c:v>
                </c:pt>
                <c:pt idx="2">
                  <c:v>modswitch</c:v>
                </c:pt>
                <c:pt idx="3">
                  <c:v>zstd</c:v>
                </c:pt>
                <c:pt idx="4">
                  <c:v>shortchain</c:v>
                </c:pt>
                <c:pt idx="5">
                  <c:v>compact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5.11</c:v>
                </c:pt>
                <c:pt idx="1">
                  <c:v>3.74</c:v>
                </c:pt>
                <c:pt idx="2">
                  <c:v>3.67</c:v>
                </c:pt>
                <c:pt idx="3">
                  <c:v>2.46</c:v>
                </c:pt>
                <c:pt idx="4">
                  <c:v>2.23</c:v>
                </c:pt>
                <c:pt idx="5">
                  <c:v>0.87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12700">
              <a:solidFill>
                <a:srgbClr val="E5E8EE"/>
              </a:solidFill>
              <a:prstDash val="solid"/>
              <a:round/>
            </a:ln>
          </c:spPr>
        </c:majorGridlines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d2de4982-d396-4027-9685-ebed6a313ca5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140" b="1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精度 vs 时间（VGG，r_h=1，模型）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Pareto 前沿（VGG）</c:v>
                </c:pt>
              </c:strCache>
            </c:strRef>
          </c:tx>
          <c:spPr>
            <a:ln w="25400" cap="rnd">
              <a:solidFill>
                <a:srgbClr val="3D8DFF"/>
              </a:solidFill>
              <a:prstDash val="solid"/>
              <a:round/>
            </a:ln>
          </c:spPr>
          <c:marker>
            <c:spPr>
              <a:solidFill>
                <a:srgbClr val="3D8DFF"/>
              </a:solidFill>
            </c:spPr>
          </c:marker>
          <c:dLbls>
            <c:delete val="1"/>
          </c:dLbls>
          <c:xVal>
            <c:numRef>
              <c:f>Sheet1!$A$2:$A$6</c:f>
              <c:numCache>
                <c:formatCode>General</c:formatCode>
                <c:ptCount val="5"/>
                <c:pt idx="0">
                  <c:v>16.11</c:v>
                </c:pt>
                <c:pt idx="1">
                  <c:v>19.53</c:v>
                </c:pt>
                <c:pt idx="2">
                  <c:v>23</c:v>
                </c:pt>
                <c:pt idx="3">
                  <c:v>26.65</c:v>
                </c:pt>
                <c:pt idx="4">
                  <c:v>26.65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85.55</c:v>
                </c:pt>
                <c:pt idx="1">
                  <c:v>87.05</c:v>
                </c:pt>
                <c:pt idx="2">
                  <c:v>88.05</c:v>
                </c:pt>
                <c:pt idx="3">
                  <c:v>88.55</c:v>
                </c:pt>
                <c:pt idx="4">
                  <c:v>88.55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其它策略</c:v>
                </c:pt>
              </c:strCache>
            </c:strRef>
          </c:tx>
          <c:spPr>
            <a:ln w="38100" cap="rnd">
              <a:noFill/>
              <a:prstDash val="solid"/>
              <a:round/>
            </a:ln>
          </c:spPr>
          <c:marker>
            <c:spPr>
              <a:solidFill>
                <a:srgbClr val="8A929E"/>
              </a:solidFill>
              <a:ln w="12700">
                <a:solidFill>
                  <a:srgbClr val="8A929E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Sheet1!$A$9:$A$11</c:f>
              <c:numCache>
                <c:formatCode>General</c:formatCode>
                <c:ptCount val="3"/>
                <c:pt idx="0">
                  <c:v>30.31</c:v>
                </c:pt>
                <c:pt idx="1">
                  <c:v>23.37</c:v>
                </c:pt>
                <c:pt idx="2">
                  <c:v>12.64</c:v>
                </c:pt>
              </c:numCache>
            </c:numRef>
          </c:xVal>
          <c:yVal>
            <c:numRef>
              <c:f>Sheet1!$B$9:$B$11</c:f>
              <c:numCache>
                <c:formatCode>General</c:formatCode>
                <c:ptCount val="3"/>
                <c:pt idx="0">
                  <c:v>88.55</c:v>
                </c:pt>
                <c:pt idx="1">
                  <c:v>88.05</c:v>
                </c:pt>
                <c:pt idx="2">
                  <c:v>83.55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32"/>
          <c:min val="1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89.5"/>
          <c:min val="83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rgbClr val="3D3D3D"/>
              </a:solidFill>
              <a:latin typeface="Arial" panose="020B0604020202020204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830adbd-ba9b-46e5-a2c1-746ef00a70f9}"/>
      </c:ext>
    </c:extLst>
  </c:chart>
  <c:txPr>
    <a:bodyPr/>
    <a:lstStyle/>
    <a:p>
      <a:pPr>
        <a:defRPr lang="zh-CN" sz="950">
          <a:solidFill>
            <a:srgbClr val="3D3D3D"/>
          </a:solidFill>
          <a:latin typeface="Arial" panose="020B0604020202020204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|bias|（LSB，对数轴）vs 点积长度 n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直接截断 |偏差|</c:v>
                </c:pt>
              </c:strCache>
            </c:strRef>
          </c:tx>
          <c:spPr>
            <a:ln w="28575" cap="rnd">
              <a:solidFill>
                <a:srgbClr val="D64545"/>
              </a:solidFill>
              <a:prstDash val="solid"/>
              <a:round/>
            </a:ln>
          </c:spPr>
          <c:marker>
            <c:spPr>
              <a:solidFill>
                <a:srgbClr val="D64545"/>
              </a:solidFill>
              <a:ln w="12700">
                <a:solidFill>
                  <a:srgbClr val="D64545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4</c:v>
                </c:pt>
                <c:pt idx="2">
                  <c:v>16</c:v>
                </c:pt>
                <c:pt idx="3">
                  <c:v>64</c:v>
                </c:pt>
                <c:pt idx="4">
                  <c:v>256</c:v>
                </c:pt>
                <c:pt idx="5">
                  <c:v>1024</c:v>
                </c:pt>
                <c:pt idx="6">
                  <c:v>4096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0.506</c:v>
                </c:pt>
                <c:pt idx="1">
                  <c:v>1.957</c:v>
                </c:pt>
                <c:pt idx="2">
                  <c:v>7.825</c:v>
                </c:pt>
                <c:pt idx="3">
                  <c:v>31.32</c:v>
                </c:pt>
                <c:pt idx="4">
                  <c:v>125.2</c:v>
                </c:pt>
                <c:pt idx="5">
                  <c:v>501.5</c:v>
                </c:pt>
                <c:pt idx="6">
                  <c:v>2006.1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随机截断 |偏差|</c:v>
                </c:pt>
              </c:strCache>
            </c:strRef>
          </c:tx>
          <c:spPr>
            <a:ln w="28575" cap="rnd">
              <a:solidFill>
                <a:srgbClr val="3D8DFF"/>
              </a:solidFill>
              <a:prstDash val="solid"/>
              <a:round/>
            </a:ln>
          </c:spPr>
          <c:marker>
            <c:spPr>
              <a:solidFill>
                <a:srgbClr val="3D8DFF"/>
              </a:solidFill>
              <a:ln w="12700">
                <a:solidFill>
                  <a:srgbClr val="3D8DFF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4</c:v>
                </c:pt>
                <c:pt idx="2">
                  <c:v>16</c:v>
                </c:pt>
                <c:pt idx="3">
                  <c:v>64</c:v>
                </c:pt>
                <c:pt idx="4">
                  <c:v>256</c:v>
                </c:pt>
                <c:pt idx="5">
                  <c:v>1024</c:v>
                </c:pt>
                <c:pt idx="6">
                  <c:v>4096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0.017</c:v>
                </c:pt>
                <c:pt idx="1">
                  <c:v>0.002</c:v>
                </c:pt>
                <c:pt idx="2">
                  <c:v>0.002</c:v>
                </c:pt>
                <c:pt idx="3">
                  <c:v>0.078</c:v>
                </c:pt>
                <c:pt idx="4">
                  <c:v>0.35</c:v>
                </c:pt>
                <c:pt idx="5">
                  <c:v>0.73</c:v>
                </c:pt>
                <c:pt idx="6">
                  <c:v>1.65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orientation val="minMax"/>
          <c:max val="10000"/>
          <c:min val="0.001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  <a:round/>
            </a:ln>
          </c:spPr>
        </c:majorGridlines>
        <c:numFmt formatCode="0.###" sourceLinked="0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D3D3D"/>
              </a:solidFill>
              <a:latin typeface="Arial" panose="020B0604020202020204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9519a02-ad45-4505-8f05-8cb414161ec8}"/>
      </c:ext>
    </c:extLst>
  </c:chart>
  <c:txPr>
    <a:bodyPr/>
    <a:lstStyle/>
    <a:p>
      <a:pPr>
        <a:defRPr lang="zh-CN" sz="1000">
          <a:solidFill>
            <a:srgbClr val="3D3D3D"/>
          </a:solidFill>
          <a:latin typeface="Arial" panose="020B0604020202020204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客户端加解密：x86 vs Pi5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x86</c:v>
                </c:pt>
              </c:strCache>
            </c:strRef>
          </c:tx>
          <c:spPr>
            <a:solidFill>
              <a:srgbClr val="8A929E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3D3D3D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T_enc (ms)</c:v>
                </c:pt>
                <c:pt idx="1">
                  <c:v>T_dec (ms)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3.77</c:v>
                </c:pt>
                <c:pt idx="1">
                  <c:v>0.36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Pi5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3D3D3D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T_enc (ms)</c:v>
                </c:pt>
                <c:pt idx="1">
                  <c:v>T_dec (ms)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17.9</c:v>
                </c:pt>
                <c:pt idx="1">
                  <c:v>1.71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  <a:round/>
            </a:ln>
          </c:spPr>
        </c:majorGridlines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D3D3D"/>
              </a:solidFill>
              <a:latin typeface="Arial" panose="020B0604020202020204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f185c47-62b6-4a15-a0ff-9c797cf84cc9}"/>
      </c:ext>
    </c:extLst>
  </c:chart>
  <c:txPr>
    <a:bodyPr/>
    <a:lstStyle/>
    <a:p>
      <a:pPr>
        <a:defRPr lang="zh-CN" sz="1000">
          <a:solidFill>
            <a:srgbClr val="3D3D3D"/>
          </a:solidFill>
          <a:latin typeface="Arial" panose="020B0604020202020204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390525" y="2247900"/>
            <a:ext cx="9525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组会汇报</a:t>
            </a:r>
            <a:endParaRPr lang="zh-CN" sz="54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28625" y="34861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950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sz="1950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王梓杨</a:t>
            </a:r>
            <a:endParaRPr lang="zh-CN" sz="1950" b="0">
              <a:solidFill>
                <a:srgbClr val="3D3D3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28625" y="41148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3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3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2026-10-29</a:t>
            </a:r>
            <a:endParaRPr sz="1350" b="0">
              <a:solidFill>
                <a:srgbClr val="6B6B6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ubtitle"/>
          <p:cNvSpPr txBox="1"/>
          <p:nvPr/>
        </p:nvSpPr>
        <p:spPr>
          <a:xfrm>
            <a:off x="868680" y="466344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6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LitePI：面向资源受限 IoT 客户端的低交互隐私推理 —— E1–E10 实验全线核验</a:t>
            </a:r>
            <a:endParaRPr lang="zh-CN" sz="16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390525" y="304800"/>
            <a:ext cx="114014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全线梳理（迄今为止所有</a:t>
            </a:r>
            <a:r>
              <a:rPr lang="zh-CN"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实验）</a:t>
            </a:r>
            <a:endParaRPr lang="zh-CN" sz="27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90525" y="1819275"/>
            <a:ext cx="95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  <a:endParaRPr sz="300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571625" y="1762125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背景与论文</a:t>
            </a:r>
            <a:r>
              <a:rPr lang="zh-CN"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思路</a:t>
            </a:r>
            <a:endParaRPr lang="zh-CN" sz="1875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571625" y="2162175"/>
            <a:ext cx="1019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目前</a:t>
            </a:r>
            <a:r>
              <a:rPr lang="en-US" altLang="zh-CN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IoT</a:t>
            </a:r>
            <a:r>
              <a:rPr lang="zh-CN" altLang="en-US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设备产生大量敏感信息，相较于</a:t>
            </a:r>
            <a:r>
              <a:rPr lang="en-US" altLang="zh-CN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delphi</a:t>
            </a:r>
            <a:r>
              <a:rPr lang="zh-CN" altLang="en-US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的</a:t>
            </a:r>
            <a:r>
              <a:rPr lang="zh-CN" altLang="en-US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创新点，提出</a:t>
            </a:r>
            <a:r>
              <a:rPr lang="en-US" altLang="zh-CN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litePi</a:t>
            </a:r>
            <a:r>
              <a:rPr lang="zh-CN" altLang="en-US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的思路和想法以及实现</a:t>
            </a:r>
            <a:r>
              <a:rPr lang="zh-CN" altLang="en-US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过程</a:t>
            </a:r>
            <a:endParaRPr lang="zh-CN" altLang="en-US" sz="1275" b="0">
              <a:solidFill>
                <a:srgbClr val="3D3D3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3267075"/>
            <a:ext cx="95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  <a:endParaRPr sz="300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571625" y="3209925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E1-E10</a:t>
            </a:r>
            <a:r>
              <a:rPr lang="zh-CN" altLang="en-US"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实验成果（完成点与</a:t>
            </a:r>
            <a:r>
              <a:rPr lang="zh-CN" altLang="en-US"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未完成点）</a:t>
            </a:r>
            <a:endParaRPr lang="zh-CN" altLang="en-US" sz="1875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571625" y="3609975"/>
            <a:ext cx="1019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E1–E10 每个实验两页：目的与思路 → 实验数据与验收结论；严格对照《实验方案设计》H1–H6 与《LitePI 协议设计》核验</a:t>
            </a:r>
            <a:endParaRPr lang="zh-CN" altLang="en-US" sz="1275" b="0">
              <a:solidFill>
                <a:srgbClr val="3D3D3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90525" y="4714875"/>
            <a:ext cx="95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endParaRPr sz="300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71625" y="4657725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875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71625" y="5057775"/>
            <a:ext cx="1019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pPr>
            <a:endParaRPr sz="1275" b="0">
              <a:solidFill>
                <a:srgbClr val="3D3D3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背景：IoT 设备的局限性，以及本文要解决的问题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敏感数据在资源受限的客户端产生，推理却必须交给云端；现有隐私推理把代价压在了客户端身上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可穿戴 ECG 贴片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1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持续采集心电；只采集、</a:t>
            </a:r>
            <a:endParaRPr lang="zh-CN" sz="11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1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不做任何密码计算</a:t>
            </a:r>
            <a:endParaRPr lang="zh-CN" sz="11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2880360" y="1947672"/>
            <a:ext cx="64008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834640" y="1527048"/>
            <a:ext cx="7772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BLE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66160" y="141732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手机 / 家庭网关 = LitePI 客户端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1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ARM 数 GHz · 百 MB 级内存 · 电池供电</a:t>
            </a:r>
            <a:endParaRPr lang="zh-CN" sz="11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1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持私钥 sk 与私有输入 x</a:t>
            </a:r>
            <a:endParaRPr lang="zh-CN" sz="11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6903720" y="1947672"/>
            <a:ext cx="96012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0" y="1490472"/>
            <a:ext cx="1051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互联网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RTT 10–200 ms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909560" y="1417320"/>
            <a:ext cx="3840480" cy="10515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云端医疗推理服务（单一服务商）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1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持模型 θ（心律失常分类网络）</a:t>
            </a:r>
            <a:endParaRPr lang="zh-CN" sz="11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1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半诚实：照协议执行但会尝试推断 x</a:t>
            </a:r>
            <a:endParaRPr lang="zh-CN" sz="11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532888"/>
            <a:ext cx="11292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风险：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ECG 波形直接暴露健康状况；明文上传后服务商可做画像、二次分析、转售。TLS 只保护传输，云端仍持有明文。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2999232"/>
            <a:ext cx="5577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客户端侧的 6 个挑战（论文 §1.2）</a:t>
            </a:r>
            <a:endParaRPr lang="zh-CN" sz="1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3429000"/>
            <a:ext cx="2697480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81928" y="3502152"/>
            <a:ext cx="247802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 算力弱</a:t>
            </a:r>
            <a:endParaRPr lang="zh-CN" sz="125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加密/解密要在 ARM 上毫秒级完成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052560" y="3429000"/>
            <a:ext cx="2697480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62288" y="3502152"/>
            <a:ext cx="247802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2. 内存有限</a:t>
            </a:r>
            <a:endParaRPr lang="zh-CN" sz="125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评估密钥、密文都要放进百 MB 内存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2200" y="4434840"/>
            <a:ext cx="2697480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81928" y="4507992"/>
            <a:ext cx="247802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3. 网络 RTT 高</a:t>
            </a:r>
            <a:endParaRPr lang="zh-CN" sz="125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每多一轮交互就多一个 RTT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52560" y="4434840"/>
            <a:ext cx="2697480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2288" y="4507992"/>
            <a:ext cx="247802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4. 非线性层导致交互</a:t>
            </a:r>
            <a:endParaRPr lang="zh-CN" sz="125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ReLU 在 HE 中算不了，MPC 要逐层往返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72200" y="5440680"/>
            <a:ext cx="2697480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81928" y="5513832"/>
            <a:ext cx="247802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5. 精度 vs 低交互冲突</a:t>
            </a:r>
            <a:endParaRPr lang="zh-CN" sz="125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多项式替代 ReLU 省交互但可能掉点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052560" y="5440680"/>
            <a:ext cx="2697480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62288" y="5513832"/>
            <a:ext cx="247802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6. 固定协议难适配</a:t>
            </a:r>
            <a:endParaRPr lang="zh-CN" sz="125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设备、网络千差万别，一种配置不够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Card 现有方案为什么不适合 IoT 客户端"/>
          <p:cNvSpPr/>
          <p:nvPr/>
        </p:nvSpPr>
        <p:spPr>
          <a:xfrm>
            <a:off x="457200" y="3017520"/>
            <a:ext cx="5486400" cy="33375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3145536"/>
            <a:ext cx="51206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现有方案为什么不适合 IoT 客户端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3584448"/>
            <a:ext cx="5120640" cy="26791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5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纯 HE（CryptoNets 类）：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只能用多项式激活，乘法深度受 CKKS 参数限制，网络一深精度就掉，参数一大密文与密钥就膨胀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5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HE + MPC（Gazelle / Delphi / CrypTFlow2 类）：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每个 ReLU 层都要客户端在线参与；Delphi 的 GC 路线还要求客户端在预处理阶段接收并在线求值混淆电路，客户端存储与通信是主要成本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5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双服务器秘密分享：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客户端可离线，但依赖两个非共谋服务器，与“用户—单一云服务商”的真实部署不符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本文要解决的问题：</a:t>
            </a:r>
            <a:r>
              <a:rPr lang="zh-CN" sz="11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单服务器、半诚实模型下，让客户端只做“编码 + 少量加解密”，交互轮数可按设备/网络调节，且精度损失可控</a:t>
            </a:r>
            <a:endParaRPr lang="zh-CN" sz="11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依据：论文草稿 §1.1–§1.3、§3 Threat Model；协议设计 §1.2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本文思路：LitePI 设计概要，以及相对 Delphi 的创新点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一个协议、一个可替换的非线性原语：HE-only 是 2 轮主干道，每个非线性层可选走 Hybrid 岔路，由 Planner 决定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630936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20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 C（Pi5 / 手机）</a:t>
            </a:r>
            <a:endParaRPr lang="zh-CN" sz="120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0" y="1508760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200" b="1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服务器 S（持模型 θ）</a:t>
            </a:r>
            <a:endParaRPr lang="zh-CN" sz="1200" b="1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离线 Setup：KeyGen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(pk, sk, evk)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34840" y="1920240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Planner：设备/网络 profile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 精度下限 → 调度 s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788920" y="2157984"/>
            <a:ext cx="1645920" cy="0"/>
          </a:xfrm>
          <a:prstGeom prst="line">
            <a:avLst/>
          </a:prstGeom>
          <a:ln w="22225">
            <a:solidFill>
              <a:srgbClr val="8A92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88920" y="1847088"/>
            <a:ext cx="164591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M0: pk+evk（一次）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2633472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im2col 编码 + 加密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ct_x = Enc(x)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34840" y="2633472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LinearEval（Conv/FC）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密文 × 明文权重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788920" y="2871215"/>
            <a:ext cx="164592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88920" y="2560320"/>
            <a:ext cx="164591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M1: ct_x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34840" y="3346704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s_k = 0：HE-P₂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服务端本地平方，0 交互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434840" y="3968496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s_k = 1：加掩码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ct_{z+r} = ct_z + Enc(r)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17" name="Connector 16"/>
          <p:cNvCxnSpPr/>
          <p:nvPr/>
        </p:nvCxnSpPr>
        <p:spPr>
          <a:xfrm flipH="1">
            <a:off x="2788920" y="4206240"/>
            <a:ext cx="164592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88920" y="3895344"/>
            <a:ext cx="164591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 ct_{z+r}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968496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解密 = 份额 z+r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（解密即份额）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590288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SCI ReLU（加性共享+OT）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再加密 Enc(c_c)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434840" y="4590288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ct_{ReLU(z)} = Enc(c_c)+Enc(c_s)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深度重置到链顶 L7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788920" y="4828031"/>
            <a:ext cx="164592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88920" y="4517136"/>
            <a:ext cx="164591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② OT + Enc(c_c)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303520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解密 + argmax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（档位 B：只得类别索引）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434840" y="5303520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最后一层 FC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输出 ct_y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6" name="Connector 25"/>
          <p:cNvCxnSpPr/>
          <p:nvPr/>
        </p:nvCxnSpPr>
        <p:spPr>
          <a:xfrm flipH="1">
            <a:off x="2788920" y="5541264"/>
            <a:ext cx="164592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88920" y="5230368"/>
            <a:ext cx="164591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M3: ct_y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5943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在线轮数 R = 2 + K_h·r_h（K_h = 走岔路的层数）；r_h 已端到端实测 ≈ 6.0（SCI 内部 5.0 轮 + ①/② 1 轮），设计目标是 1；客户端在线只做 1+K_h 次加密、1+K_h 次解密，旋转/重线性化 0 次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949440" y="1417320"/>
          <a:ext cx="4800598" cy="427939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51560"/>
                <a:gridCol w="1874519"/>
                <a:gridCol w="187451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维度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Delphi（USENIX Sec'20）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LitePI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非线性计算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ReLU 走 GC；NAS 把部分 ReLU 换成二次多项式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逐层二选一：HE-P₂（0 交互）或 SCI ReLU（加性共享+OT）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客户端预处理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每次推理都要参与离线阶段：HE 生成线性层份额、接收混淆电路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只做一次 Setup（密钥）；线性层由服务器在密文上算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调度依据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 / 服务端时延（NAS 选层）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客户端设备 + 网络 profile + 精度下限，可退化为 0 交互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深度 / 参数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线性层在份额上算，无深度限制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岔路再加密重置深度：调度 s 与 CKKS 参数 p 联合设计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多查询安全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显式掩码规则 M1–M3 + E10 泄漏量化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代价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客户端存储/通信重（GC）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服务端在线 HE 计算重（4–28 s/次，E2）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30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依据：协议设计 §2、§4、§10、§12；Delphi 描述按其原论文机制概括。r_h 实测见 E3（r_h_netem_*.json，3 数据集）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390525" y="2247900"/>
            <a:ext cx="9525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实验</a:t>
            </a:r>
            <a:r>
              <a:rPr lang="en-US" altLang="zh-CN"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E1-E10</a:t>
            </a:r>
            <a:r>
              <a:rPr lang="zh-CN" altLang="en-US"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全线</a:t>
            </a:r>
            <a:r>
              <a:rPr lang="zh-CN" altLang="en-US"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汇报</a:t>
            </a:r>
            <a:endParaRPr lang="zh-CN" altLang="en-US" sz="54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28625" y="34861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950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pPr>
            <a:endParaRPr lang="zh-CN" sz="1950" b="0">
              <a:solidFill>
                <a:srgbClr val="3D3D3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28625" y="41148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3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3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endParaRPr sz="1350" b="0">
              <a:solidFill>
                <a:srgbClr val="6B6B6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3840480"/>
            <a:ext cx="10058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每个实验两页：第一页讲“实验目的 + 实验思路”，第二页讲“实验数据 + 是否达到验收标准”</a:t>
            </a:r>
            <a:endParaRPr lang="zh-CN" sz="15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核验依据：《实验方案设计》H1–H6 与 E1–E10 设计；《LitePI 协议设计》§2–§12；数据来自仓库 sci-backend 分支 results/</a:t>
            </a:r>
            <a:endParaRPr lang="zh-CN" sz="13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E1–E10 完成清单，以及用到的软硬件工具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个实验：9 个部分完成，E6 未开始；E10b 的 AUC 旧数已撤回待重跑；E10c、E3 全网格、E1 抽查、netem 版 E9 暂缓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30000"/>
          <a:ext cx="11292840" cy="370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43000"/>
                <a:gridCol w="2377440"/>
                <a:gridCol w="868680"/>
                <a:gridCol w="3566160"/>
                <a:gridCol w="333756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实验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验证内容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状态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已有数据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主要缺口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E1 精度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H1：自适应调度精度 ≥ 纯同态，接近全混合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明文 4 调度×3 数据集×5 种子；密文 60 组（一致率 99.69–100%）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混合调度的精度增益只在深网出现，深网无密文实现；E1 抽查（≈3.3 h）暂缓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E2 客户端开销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H2：客户端时间/内存 ≪ Delphi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与 Pi5 各 3 数据集×5 种子（纯同态）；hybrid 每层分解；客户端内存 111–113 MB（Delphi 347 MiB）；Delphi 已复现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Pi5 未测 hybrid；能耗无；对 Delphi 只能系统级对比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E3 低交互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H3：RTT 越大，少交互的优势越大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r_h 端到端实测 6.02（3 数据集）；解析模型 162 点按实测 r_h 重算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全网格 216 点 netem 暂缓；曲线仍是模型值，不是逐点实测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E4 通信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H4：通信 &lt; TenSEAL naive、Delphi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逐层字节、密钥、旋转键裁剪（5 种子）；6 档线格式实测：compact 每查询 −74%，密钥 176→45.5 MiB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无 TenSEAL naive 对照；压缩后的字节未换算成实测延迟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E5 规划器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H5：自适应调度 Pareto 支配其它策略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成本改为 E1/E2/E4 + 实测 r_h 拟合；5 种网/6 种策略（含随机×5）；深网可执行性约束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精度仍是罚项模型；深网无密文实现；hybrid 内存增量未测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E6 能耗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客户端能耗与电池寿命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未开始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缺 USB 功率计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E7 消融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 项消融（截断、GC 路线等）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随机 vs 直接截断（5 种子）；去掉规划器、去掉客户端感知（模型）；掩码复用并入 E10a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其余 3 项（预处理/打包/融合、GC 路线）未做；客户端感知在浅网无差异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E8 设备异构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按设备重新规划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/ Pi5 两档设备 profile 已进规划器，产出 Table 10；Pi5 比 x86 慢 4.1×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两台设备选出的调度相同；缺 Pi4；hybrid 内存增量未测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E9 极端网络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丢包/抖动下的鲁棒性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解析模型 972 组，按实测 r_h 重算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netem 版 E9 网格（≈2.3 h）暂缓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E10 泄漏量化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H6：新鲜掩码≈随机，复用泄露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E10a（复用 / 新鲜掩码 M2 v2）3 数据集×5 种子；E10b 采样混淆已修，本机初测仅索引≈随机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E10b 旧 AUC 撤回待重跑；E10c 实测暂缓（仍是估算）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138928"/>
            <a:ext cx="3657600" cy="12618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5193792"/>
            <a:ext cx="34290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硬件</a:t>
            </a:r>
            <a:endParaRPr lang="zh-CN" sz="12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x86 24 核（99 号机 / 远程容器 101，101 带 RTX 4090）：密文推理、训练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Raspberry Pi 5（A76 2.4 GHz, 8 GB）：客户端实测，performance 调度、关 swap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Kaggle T4 / RTX 4090：深网训练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70248" y="5138928"/>
            <a:ext cx="4023360" cy="12618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07408" y="5193792"/>
            <a:ext cx="379476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软件</a:t>
            </a:r>
            <a:endParaRPr lang="zh-CN" sz="12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SEAL 4.1.2 + 自研绑定 litepi_seal（CKKS，含新线格式）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SCI / CrypTFlow2 + 绑定 litepi_sci（ReLU）；PyTorch 2.x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CKKS：N=8192，[40,21×6,40]，2^21，logQ=206 ≤ 218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Delphi 官方实现（SEAL 3.6.5，BFV）：仅作对照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449056" y="5138928"/>
            <a:ext cx="3300984" cy="1261872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86216" y="5193792"/>
            <a:ext cx="3072384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与方案不一致 / 尚缺</a:t>
            </a:r>
            <a:endParaRPr lang="zh-CN" sz="12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Python 3.10（方案写 3.11）；TenSEAL 只作对照；运行时是 litepi_sci，不是远端部署的 CrypTFlow2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未就绪：EMP-toolkit（GC 路线）、USB 功率计、Pi4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数据来源：MrWangneverplay/LitePI @ sci-backend 50043d7；docs/实验数据审计.md、docs/审阅_P1P2代码_2026-10-29.md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 精度验证：实验目的与实验思路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检验 H1，并按方案原则 4 给出三档精度与 ΔAcc 分解；同时确认密文计算本身不引入额外精度损失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对应假设 H1：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Adaptive 调度的精度 ≥ 全多项式 HE-only，并接近全 Hybrid（全精确 ReLU）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三档精度（方案 §3.2.3 原则 4）：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明文 ReLU / 明文多项式 / 密文；三者之差就是“多项式近似损失”和“密文量化损失”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ΔAcc 分解（方案 E1 产出）：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多项式损失 + 量化（密文）损失 + 调度损失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协议依据：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协议设计 §1.3——Hybrid 只在“ReLU 孪生网”上才有意义：同一模型上 P₂ 近似与精确 MPC ReLU 才构成可调度的两端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8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验收标准：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 方法 × 3 数据集；同一超参；5 个种子 mean ± std（方案 §7 E1、§8）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200"/>
              </a:spcAft>
            </a:pPr>
            <a:r>
              <a:rPr lang="zh-CN" sz="12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三个 canonical 网络（K = 2 个非线性层）</a:t>
            </a:r>
            <a:endParaRPr lang="zh-CN" sz="12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MNIST 1×28×28：Conv(4,7×7,s3) → n₁=256 → FC 64 → 10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CIFAR-10 灰度 1×32×32：Conv(12,5×5,s3) → 1200 → 128 → 10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UCI-HAR 1×128×9：Conv(12,3×9,s(2,1)) → 756 → 128 → 6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CKKS：N=8192，[40,21×6,40]，scale 2^21，深度 5 / 预算 6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按调度训练：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s∈{00,01,10,11}，s_k=0 用 P₂(z)=0.0625+0.5z+0.5z²，s_k=1 用 ReLU；每个调度独立训练 5 种子（73–77）。s11 即 ReLU 孪生网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734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6974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明文精度：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全测试集（MNIST/CIFAR 10,000，UCI 2,947）逐种子测，得 mean±std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1912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154680"/>
            <a:ext cx="5422392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密文推理（完整协议）：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SEAL 4.1.2 + SCI，客户端 im2col+加密 → 服务端 HE 线性层 → s_k=1 层走 SCI ReLU → 客户端解密；3×4×5 = 60 组，每组 64 个随机样本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4014215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3977639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一致率：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对同一批样本补算明文预测，逐样本比对密文 argmax（compute_agreement.py），这是密文侧唯一可靠的指标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760720" y="465429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461772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Adaptive：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 4 个调度中按“精度 ≥ 最优 − 1 点”约束取时延最低者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60720" y="511149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44768" y="507492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孪生替换：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固定 s11 权重，把某层 ReLU 直接换成 P₂（不重训），量化“不重训”的代价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脚本：analysis/train_hybrid.py、eval_hybrid_accuracy.py、compute_agreement.py、eval_twin_substitution.py、adaptive_eval.py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 实验数据：明文 / 密文精度、ΔAcc 分解与孪生替换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密文计算本身达标（一致率 99.69–100%）；但在浅层 canonical 网上，P₂ 训练的 HE-only 并不比 ReLU 差，Hybrid 的精度价值没有体现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69494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canonical 网络明文精度（全测试集，5 种子，%）与密文一致率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6949440" cy="14630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914400"/>
                <a:gridCol w="1051560"/>
                <a:gridCol w="914400"/>
                <a:gridCol w="914400"/>
                <a:gridCol w="1097280"/>
                <a:gridCol w="960120"/>
                <a:gridCol w="10972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两层多项式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s01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多项式+ReLU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s10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ReLU+多项式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s11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两层 ReLU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自适应选中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调度 · 精度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密文=明文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一致率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97.97 ± 0.29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97.90 ± 0.11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97.89 ± 0.20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97.71 ± 0.09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 · 97.97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100%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60.59 ± 0.49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59.36 ± 0.77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62.80 ± 0.77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58.60 ± 0.46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s10 · 62.80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99.69–100%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90.34 ± 0.93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88.67 ± 1.12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90.81 ± 0.51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89.75 ± 0.99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 · 90.34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99.69–100%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20000"/>
            <a:ext cx="6949440" cy="5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8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s00 = 两层都用多项式（纯同态）；s01 = 第 1 层多项式、第 2 层 ReLU；s10 = 反过来；s11 = 两层都用 ReLU（全混合）。损失列 = ReLU 版 − 多项式版 / 密文 − 明文 / 自适应 − 最优（负数 = 多项式版反而不低于 ReLU 版）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8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HE-only 密文精度另测：MNIST 97.74 ± 0.18（5×1000）；CIFAR 58.70 ± 3.25、UCI 84.90 ± 1.64（5×200，取测试集前 200 条；UCI 样本有偏，需分层重测）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700000"/>
            <a:ext cx="69494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精度损失分解（百分点；负数 = 多项式版反而不低于 ReLU 版）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000000"/>
          <a:ext cx="6949436" cy="138988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97279"/>
                <a:gridCol w="1828799"/>
                <a:gridCol w="2011679"/>
                <a:gridCol w="201167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换成多项式的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精度损失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加密带来的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精度损失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调度选择带来的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精度损失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−0.26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−1.99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≤ 0.31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−0.59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≤ 0.31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−0.47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35240" y="1325880"/>
            <a:ext cx="41148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3  不重训，直接把某层换成多项式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35240" y="1627632"/>
          <a:ext cx="4114797" cy="15087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816688"/>
                <a:gridCol w="753925"/>
                <a:gridCol w="772092"/>
                <a:gridCol w="772092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两层激活组合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ReLU / ReLU（孪生基线）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97.71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58.60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89.75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ReLU / P₂（换第二层）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81.22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48.15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84.74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P₂ / ReLU（换第一层）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51.59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23.42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63.70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P₂ / P₂（两层都换）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31.65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14.43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53.59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35240" y="3172968"/>
            <a:ext cx="41148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直接替换掉 7–84 点，是适用域失配（P₂ 只在 |z|≲1 有效），不是 P₂ 的近似误差；不能拿来证明 Hybrid 的价值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Verdict"/>
          <p:cNvSpPr/>
          <p:nvPr/>
        </p:nvSpPr>
        <p:spPr>
          <a:xfrm>
            <a:off x="457200" y="5577840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669279"/>
            <a:ext cx="21031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2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2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Verdict pill"/>
          <p:cNvSpPr/>
          <p:nvPr/>
        </p:nvSpPr>
        <p:spPr>
          <a:xfrm>
            <a:off x="640080" y="60350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部分达到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43200" y="5605272"/>
            <a:ext cx="8869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密文正确性（60 组一致率 99.69–100%，密文−明文 ≤ 0.31 点）；三档精度齐全；自适应调度损失 ≤ 0.47 点。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未达到：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H1 只是形式上成立——自适应在 MNIST/UCI 直接选了 0 交互的 s00。混合调度的精度增益只在深网出现（VGG 中 ReLU−多项式 = +1.95/+4.98/+6.05 点），而深网还没有密文实现。E1 抽查（≈3.3 h）本轮暂缓，沿用上一版 60 组结果。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数据：results/raw_results/E1/*/hybrid_s{00,01,10,11}/、*_acc_seal/、he_only_ciphertext_seal/、twin_substitution/；results/agreement/summary.json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 客户端开销：实验目的与实验思路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检验 H2：在真实 ARM 设备上，LitePI 客户端每次查询只付毫秒级计算、可承受的内存，并显著低于 Delphi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对应假设 H2：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LitePI 客户端在线时间 / 内存显著低于 Delphi 复现版（论文核心图 Fig. 9 + Table 6）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六项客户端指标（方案 §6.1）：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T_encode、T_enc、T_dec、T_post、RSS 峰值 M_peak、能耗 E_client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协议设计 §10 的“硬数字”：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s=00 时客户端只做 1 次加密 + 1 次解密；每个 hybrid 层再加 1 次解密 + SCI 客户端 + 1 次再加密；旋转/重线性化 0 次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内存怎么测：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服务端与客户端分进程，只读客户端进程自己的峰值内存；客户端进程只导入 numpy 与 litepi_seal（含 SCI 运行时），可连远端服务端（--server host:port）；评估密钥逐个生成、发完即释放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验收标准：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 档设备 × 5 方法；每点 ≥5 种子；预热 3 次；固定 CPU 频率、禁 swap；Delphi 复现版补测客户端指标（方案 §7 E2、§8）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932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客户端流水线计时：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输入 x → im2col 编码（T_encode）→ CKKS 加密（T_enc）→ 上传 M1 → … → 解密 M3（T_dec）→ argmax（T_post）。im2col 编码与加密在同一次调用里，T_encode = (编码+加密) − 加密标定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309981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306324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测量方式：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计时用 eval_client_overhead.py（每种子 25 次，预热 3 次）；内存改用 measure_client_memory.py：服务端与客户端分进程，只读客户端自己的峰值内存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73989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70332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设备：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x86 24 核（MNIST 在 99 号机、CIFAR/UCI 在 101 号机）与 Raspberry Pi 5（governor=performance、swapoff），3 数据集 × 5 种子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4379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4343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Hybrid 层增量：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从 E1 的 60 组完整协议记录中拆出每个 hybrid 层的客户端解密、SCI ReLU、再加密耗时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760720" y="5020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49834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通信同时落盘：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S_up / S_down / S_key 逐字节记录，供 E3/E4 复用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脚本：analysis/eval_client_overhead.py、measure_client_memory.py、client_metrics.py；Pi5 运行记录见审计 §9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 实验数据：x86 与树莓派 5 的客户端六项指标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Pi5 上客户端每次查询约 20 ms 计算（HE-only），是 x86 的约 4.7 倍；客户端峰值内存约 111–113 MB，约为 Delphi 客户端（347 MiB）的 1/3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72237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HE-only（s=00）客户端指标，每行 5 种子 × 25 次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7223757" cy="211226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611453"/>
                <a:gridCol w="1444750"/>
                <a:gridCol w="1000212"/>
                <a:gridCol w="944645"/>
                <a:gridCol w="944645"/>
                <a:gridCol w="1278049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设备 · 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输入编码+加密耗时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加密耗时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解密耗时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结果后处理耗时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服务器计算耗时（参考）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· 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3.84 ± 0.06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3.77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0.36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0.014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4.06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· 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4.70 ± 2.15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4.80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0.44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0.020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19.31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· 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4.44 ± 1.51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4.78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0.021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15.05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Pi5 · 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18.47 ± 0.04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17.91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1.71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0.027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26.11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Pi5 · 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18.41 ± 0.08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17.88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1.76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0.027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99.74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Pi5 · 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18.55 ± 0.04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17.82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1.70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0.027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80.35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94760"/>
            <a:ext cx="72237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Hybrid 层的客户端增量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069080"/>
          <a:ext cx="7223760" cy="13258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754880"/>
                <a:gridCol w="2468880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每个 hybrid 层多出来的客户端开销（x86/101，60 组均值）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数值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客户端解密（得到带掩码的份额 z+r）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≈ 6–7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SCI ReLU（双方同机墙钟，256–1200 元素）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≈ 10–12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客户端再加密（把 ReLU 结果送回密文）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≈ 5–5.5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客户端上行 / 下行增加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917,625 B / 524–787 KB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09560" y="3650000"/>
            <a:ext cx="384048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通信（与设备、种子无关）：每次上传 917,625 B · 下载 262,265 B · 一次性密钥 184,634,920 B（≈176 MiB；实测 Wi-Fi 约 36 s）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Verdict"/>
          <p:cNvSpPr/>
          <p:nvPr/>
        </p:nvSpPr>
        <p:spPr>
          <a:xfrm>
            <a:off x="457200" y="5486400"/>
            <a:ext cx="11292840" cy="941832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21031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2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2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Verdict pill"/>
          <p:cNvSpPr/>
          <p:nvPr/>
        </p:nvSpPr>
        <p:spPr>
          <a:xfrm>
            <a:off x="640080" y="59436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部分达到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43200" y="5513832"/>
            <a:ext cx="88696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客户端在线计算在 Pi5 上仍是毫秒级，协议“客户端 1 次加密 + 1 次解密、0 次旋转”的计数成立；15/15 组 Pi5 数据齐全。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内存：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客户端峰值 112.6 MB（s00）/ 111.0 MB（s11），约为 Delphi 客户端 347 MiB（7 层多项式）的 1/3、2911 MiB（全 ReLU）的 1/27，H2 的内存一侧成立。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仍未达到：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能耗未测；Pi5 未测 hybrid 层。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数据：results/raw_results/E2/*/litepi_seal/、E2_pi5/*/litepi_seal/seed73–77、E1/*/hybrid_s*_acc_seal/（逐样本计时）；E_delphi/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"/>
          <p:cNvSpPr txBox="1"/>
          <p:nvPr/>
        </p:nvSpPr>
        <p:spPr>
          <a:xfrm>
            <a:off x="7909560" y="1325880"/>
            <a:ext cx="384048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3  客户端内存（x86 · MNIST）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7" name="Table 内存"/>
          <p:cNvGraphicFramePr>
            <a:graphicFrameLocks noGrp="1"/>
          </p:cNvGraphicFramePr>
          <p:nvPr/>
        </p:nvGraphicFramePr>
        <p:xfrm>
          <a:off x="7909560" y="1650000"/>
          <a:ext cx="3840480" cy="1140000"/>
        </p:xfrm>
        <a:graphic>
          <a:graphicData uri="http://schemas.openxmlformats.org/drawingml/2006/table">
            <a:tbl>
              <a:tblPr firstRow="1"/>
              <a:tblGrid>
                <a:gridCol w="560000"/>
                <a:gridCol w="1000000"/>
                <a:gridCol w="1000000"/>
                <a:gridCol w="1280480"/>
              </a:tblGrid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调度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峰值内存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密钥生成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 上传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Delphi 客户端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112.6 MB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0.9 s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347 MiB（7 层）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s11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111.0 MB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0.9 s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2911 MiB（全 ReLU）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8" name="TextBox"/>
          <p:cNvSpPr txBox="1"/>
          <p:nvPr/>
        </p:nvSpPr>
        <p:spPr>
          <a:xfrm>
            <a:off x="7909560" y="2850000"/>
            <a:ext cx="3840480" cy="8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服务端与客户端分进程运行，只读客户端进程自己的峰值内存；客户端含 SCI 运行时，每会话 2 次查询。评估密钥逐个生成、发完即释放，同一时刻最多只有 1 个约 7 MB 的密钥在内存里。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 对照组：Delphi 官方实现复现，与 LitePI 并列对比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客户端负担三项全面低于 Delphi：耗时 4–20 ms vs 约 20 s、内存 112 MB vs 347 MiB、通信 1.13 MiB vs 123 MiB——减少交互没有让客户端变重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数据：results/E_delphi/（delphi_minionn_summary.csv、DELPHI_BASELINE.md §6.4）；LitePI 侧见 E2/E4。Delphi 在 Core Ultra 5 125H 的 WSL2 上、4 线程、同机回环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"/>
          <p:cNvSpPr txBox="1"/>
          <p:nvPr/>
        </p:nvSpPr>
        <p:spPr>
          <a:xfrm>
            <a:off x="457200" y="1325880"/>
            <a:ext cx="63000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Delphi（CIFAR-10 MiniONN）复现结果，每档 5 次独立运行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7" name="Table Delphi"/>
          <p:cNvGraphicFramePr>
            <a:graphicFrameLocks noGrp="1"/>
          </p:cNvGraphicFramePr>
          <p:nvPr/>
        </p:nvGraphicFramePr>
        <p:xfrm>
          <a:off x="457200" y="1650000"/>
          <a:ext cx="6370000" cy="1500000"/>
        </p:xfrm>
        <a:graphic>
          <a:graphicData uri="http://schemas.openxmlformats.org/drawingml/2006/table">
            <a:tbl>
              <a:tblPr firstRow="1"/>
              <a:tblGrid>
                <a:gridCol w="1250000"/>
                <a:gridCol w="880000"/>
                <a:gridCol w="880000"/>
                <a:gridCol w="800000"/>
                <a:gridCol w="800000"/>
                <a:gridCol w="880000"/>
                <a:gridCol w="88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多项式激活层数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（其余用 ReLU）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客户端离线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耗时 (s)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客户端在线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耗时 (s)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离线通信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(MiB)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在线通信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(MiB)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客户端内存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峰值 (MiB)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服务器内存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峰值 (MiB)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0（全 ReLU）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29.3 ± 1.3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3.33 ± 0.15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3240.0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196.4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2911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5377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23.8 ± 0.8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1.88 ± 0.05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1464.8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88.8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1557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3135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20.3 ± 0.4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0.95 ± 0.02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485.6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29.3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627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1942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7（官方最佳）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19.3 ± 0.3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0.81 ± 0.03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116.4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6.93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347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1440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</a:tr>
            </a:tbl>
          </a:graphicData>
        </a:graphic>
      </p:graphicFrame>
      <p:sp>
        <p:nvSpPr>
          <p:cNvPr id="18" name="TextBox"/>
          <p:cNvSpPr txBox="1"/>
          <p:nvPr/>
        </p:nvSpPr>
        <p:spPr>
          <a:xfrm>
            <a:off x="457200" y="3700000"/>
            <a:ext cx="63000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3  客户端负担对比：每次推理（LitePI 纯同态 s00 vs Delphi 7 层最佳配置）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9" name="Table 负担"/>
          <p:cNvGraphicFramePr>
            <a:graphicFrameLocks noGrp="1"/>
          </p:cNvGraphicFramePr>
          <p:nvPr/>
        </p:nvGraphicFramePr>
        <p:xfrm>
          <a:off x="457200" y="4000000"/>
          <a:ext cx="6370000" cy="1200000"/>
        </p:xfrm>
        <a:graphic>
          <a:graphicData uri="http://schemas.openxmlformats.org/drawingml/2006/table">
            <a:tbl>
              <a:tblPr firstRow="1"/>
              <a:tblGrid>
                <a:gridCol w="1250000"/>
                <a:gridCol w="1750000"/>
                <a:gridCol w="2000000"/>
                <a:gridCol w="137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客户端负担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LitePI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Delphi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LitePI 优势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客户端耗时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4–20 ms（x86 / Pi5）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 20.1 s（离线 + 在线）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 1/1000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客户端峰值内存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112.6 MB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347 MiB（全 ReLU 2911）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 1/3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每次推理通信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1.13 MiB（compact 0.30）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123.3 MiB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 1/110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</a:tr>
            </a:tbl>
          </a:graphicData>
        </a:graphic>
      </p:graphicFrame>
      <p:sp>
        <p:nvSpPr>
          <p:cNvPr id="20" name="TextBox"/>
          <p:cNvSpPr txBox="1"/>
          <p:nvPr/>
        </p:nvSpPr>
        <p:spPr>
          <a:xfrm>
            <a:off x="457200" y="3200000"/>
            <a:ext cx="6300000" cy="4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离线阶段每次推理都要重做（预处理与输入无关可提前做，但不可免；只有 Keygen 376.5 ms 可复用）：7 层配置每次约 20.1 s / 123 MiB，全 ReLU 约 32.6 s / 3.4 GiB。官方模型明文精度 82.95%（本机 100 张复算 82.0%）。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"/>
          <p:cNvSpPr txBox="1"/>
          <p:nvPr/>
        </p:nvSpPr>
        <p:spPr>
          <a:xfrm>
            <a:off x="6950000" y="1325880"/>
            <a:ext cx="48000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并列对比：每次推理 / 客户端侧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2" name="Table 并列"/>
          <p:cNvGraphicFramePr>
            <a:graphicFrameLocks noGrp="1"/>
          </p:cNvGraphicFramePr>
          <p:nvPr/>
        </p:nvGraphicFramePr>
        <p:xfrm>
          <a:off x="6950000" y="1650000"/>
          <a:ext cx="4800000" cy="2960000"/>
        </p:xfrm>
        <a:graphic>
          <a:graphicData uri="http://schemas.openxmlformats.org/drawingml/2006/table">
            <a:tbl>
              <a:tblPr firstRow="1"/>
              <a:tblGrid>
                <a:gridCol w="1250000"/>
                <a:gridCol w="1300000"/>
                <a:gridCol w="1230000"/>
                <a:gridCol w="1020000"/>
              </a:tblGrid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指标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Delphi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（7 层多项式，最佳）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LitePI 纯同态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（s00，x86）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LitePI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compact 线格式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每次推理总通信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123.3 MiB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（离线 116.4 + 在线 6.9）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1.13 MiB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0.30 MiB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逐次预处理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有，每次推理重做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（19.3 s、116 MiB）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无（只有一次性 Setup）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无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一次性密钥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随每次离线重做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 MiB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45.5 MiB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客户端本地计算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在线 0.81 s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（含等服务器）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加解密约 4–5 ms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（Pi5 约 20 ms）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整机端到端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 20 s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（离线 19.3 + 在线 0.8）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4.7 / 18 / 14.9 s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（MNIST/CIFAR/UCI）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同左（未测）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客户端内存峰值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347 MiB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（全 ReLU 2911 MiB）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112.6 MB（s00）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111.0 MB（s11）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明文精度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82.95%（MiniONN）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97.97 / 60.59 / 90.34%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（各自 canonical 网）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Verdict"/>
          <p:cNvSpPr/>
          <p:nvPr/>
        </p:nvSpPr>
        <p:spPr>
          <a:xfrm>
            <a:off x="457200" y="5330000"/>
            <a:ext cx="11292840" cy="1070000"/>
          </a:xfrm>
          <a:prstGeom prst="roundRect">
            <a:avLst>
              <a:gd name="adj" fmla="val 6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"/>
          <p:cNvSpPr txBox="1"/>
          <p:nvPr/>
        </p:nvSpPr>
        <p:spPr>
          <a:xfrm>
            <a:off x="640080" y="5421440"/>
            <a:ext cx="220000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Verdict pill"/>
          <p:cNvSpPr/>
          <p:nvPr/>
        </p:nvSpPr>
        <p:spPr>
          <a:xfrm>
            <a:off x="640080" y="5810000"/>
            <a:ext cx="2103120" cy="32000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达到（系统级对比）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"/>
          <p:cNvSpPr txBox="1"/>
          <p:nvPr/>
        </p:nvSpPr>
        <p:spPr>
          <a:xfrm>
            <a:off x="2957200" y="5390000"/>
            <a:ext cx="8642840" cy="97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客户端负担三项都低于 Delphi——耗时约 1/1000、内存约 1/3（全 ReLU 时 1/27）、通信约 1/110（compact 约 1/415），且不需要逐次预处理；H2（时间、内存）与 H4（通信）成立。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注意：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 两边模型、HE 方案、设备不同，属系统级对比；② Delphi 的耗时是客户端墙钟（含等待服务器），LitePI 是客户端本地计算；③ 精度差 22 点是因为模型不同，不能据此比时延。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E3 低交互价值：实验目的与实验思路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检验 H3：网络 RTT 越大，少交互的好处越明显，Planner 选出的 hybrid 层数 K_h 应随 RTT 单调下降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210121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对应假设 H3：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高 RTT 下 LitePI 的端到端延迟优势随 RTT 增大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方案设计：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RTT ∈ {1, 5, 20, 50, 100, 200} ms × 带宽 ∈ {10, 50, 100} Mbps × 3 协议模式 + Delphi，用 tc/netem 注入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产出：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Fig. 6（RTT–端到端时间曲线族）+ 各 RTT 点规划器选出的 K_h；交叉点就是“何时值得交互”的答案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协议依据：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往返次数 R = 2 + K_h·r_h（协议设计 §7.1），设计目标 r_h = 1（OT 响应与再加密同轮合并）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RTT↑ 时自适应的 K_h 单调下降，最终退化为纯同态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endParaRPr lang="zh-CN" sz="1200" b="0" i="0">
              <a:solidFill>
                <a:srgbClr val="D6454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实验思路：为什么用解析模型、怎么算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输入取实测：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 五种子聚合（CIFAR/UCI 剔除并发污染的 seed73）+ E4 每 hybrid 层 1410.2 KB + E1 中 SCI 每层 48.6 ms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734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6974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网格计算：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 数据集 × 3 调度（s00/s10/s11）× 6 RTT × 3 带宽，共 162 个点（rtt_sensitivity.py）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1912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15468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r_h 实测、曲线仍是模型：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往返数 r_h 已用 netem 回环实测（6.02）；完整 netem 全网格（216 点）本轮暂缓，所以曲线用实测 r_h 代入解析模型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383133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379476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Adaptive 判定：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 5% 时延余量内能买下几层 hybrid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60720" y="4270248"/>
            <a:ext cx="5806440" cy="1417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897880" y="4315968"/>
            <a:ext cx="557784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解析模型（输入全部来自实测）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50" b="0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L_e2e(s) = T_client(s) + T_server(s) + (2 + K_h·r_h)·RTT + bytes(s) / BW，r_h = 6.02</a:t>
            </a:r>
            <a:endParaRPr lang="zh-CN" sz="1050" b="0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50" b="0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T_server(s) = T_server(00) + K_h × 48.6 ms（SCI 实测）</a:t>
            </a:r>
            <a:endParaRPr lang="zh-CN" sz="1050" b="0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50" b="0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bytes(s) = 上传 + 下载 + K_h × 1410.2 KB（E4 实测）</a:t>
            </a:r>
            <a:endParaRPr lang="zh-CN" sz="1050" b="0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0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自适应：取最大 K_h，使 L_e2e ≤ 1.05 × L_e2e(s=00)</a:t>
            </a:r>
            <a:endParaRPr lang="zh-CN" sz="1050" b="0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脚本：analysis/rtt_sensitivity.py、netem_e2e.py；输出 results/raw_results/E3/、results/rounds/；审计 §12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r_h 实测：每个 hybrid 层多花多少次网络往返？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端到端实测 r_h ≈ 6.02（3 个数据集一致）：1 次 ①/② 交换 + SCI 内部约 5.02 次往返，远高于设计目标 1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数据：results/rounds/r_h_netem_{mnist,uci_har,cifar10}.json；results/raw_results/E3/desktop/netem_*；analysis/netem_e2e.py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13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Card 方法"/>
          <p:cNvSpPr/>
          <p:nvPr/>
        </p:nvSpPr>
        <p:spPr>
          <a:xfrm>
            <a:off x="457200" y="1417320"/>
            <a:ext cx="4300000" cy="4960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07200" y="1480000"/>
            <a:ext cx="400000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怎么测的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"/>
          <p:cNvSpPr txBox="1"/>
          <p:nvPr/>
        </p:nvSpPr>
        <p:spPr>
          <a:xfrm>
            <a:off x="607200" y="1850000"/>
            <a:ext cx="4000000" cy="4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网络：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本机回环 + tc/netem，只加固定时延、不限速；RTT = 1/5/20/50/100 ms；每点先预热 1 次再采样 4 次。回环上 netem 双向生效，配置 D ms 实际加 2D ms，拟合时已除回。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拆开算：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跑纯同态(s00)和有 hybrid 的调度，用“客户端 SCI 耗时”随 RTT 的斜率除以 hybrid 层数，得到每层 SCI 内部往返数；r_h = 1（①/② 交换）+ SCI 往返。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为什么不直接用总耗时斜率：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密文约 0.9 MB，TCP 慢启动会把额外 RTT 算到 hybrid 头上；已关闭 slow-start-after-idle 并只作交叉验证。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口径提醒：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运行时是 litepi_sci（SCI），不是远端部署的 CrypTFlow2；环境是回环，不含真实链路抖动；“1”只是主通道消息计数。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"/>
          <p:cNvSpPr txBox="1"/>
          <p:nvPr/>
        </p:nvSpPr>
        <p:spPr>
          <a:xfrm>
            <a:off x="4950000" y="1325880"/>
            <a:ext cx="68000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三个数据集的往返数实测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3" name="Table r_h"/>
          <p:cNvGraphicFramePr>
            <a:graphicFrameLocks noGrp="1"/>
          </p:cNvGraphicFramePr>
          <p:nvPr/>
        </p:nvGraphicFramePr>
        <p:xfrm>
          <a:off x="4950000" y="1650000"/>
          <a:ext cx="6800840" cy="1600000"/>
        </p:xfrm>
        <a:graphic>
          <a:graphicData uri="http://schemas.openxmlformats.org/drawingml/2006/table">
            <a:tbl>
              <a:tblPr firstRow="1"/>
              <a:tblGrid>
                <a:gridCol w="1100000"/>
                <a:gridCol w="1250000"/>
                <a:gridCol w="1250000"/>
                <a:gridCol w="1200000"/>
                <a:gridCol w="1000000"/>
                <a:gridCol w="1000840"/>
              </a:tblGrid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每层往返 r_h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（本文报告值）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SCI 内部往返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/ 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总耗时斜率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（交叉验证）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纯同态 s00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总往返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全混合 s11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总往返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6.025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5.014–5.039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5.35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2.56 ± 0.39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11.12 ± 1.46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6.018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5.012–5.022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5.77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0.85 ± 0.70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11.73 ± 2.89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6.022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5.013–5.029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2.32（不吻合）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3.86 ± 1.24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8.13 ± 2.63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4950000" y="3500000"/>
          <a:ext cx="3500000" cy="28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Verdict"/>
          <p:cNvSpPr/>
          <p:nvPr/>
        </p:nvSpPr>
        <p:spPr>
          <a:xfrm>
            <a:off x="8650000" y="3500000"/>
            <a:ext cx="3100000" cy="285000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"/>
          <p:cNvSpPr txBox="1"/>
          <p:nvPr/>
        </p:nvSpPr>
        <p:spPr>
          <a:xfrm>
            <a:off x="8832880" y="3591440"/>
            <a:ext cx="273424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Verdict pill"/>
          <p:cNvSpPr/>
          <p:nvPr/>
        </p:nvSpPr>
        <p:spPr>
          <a:xfrm>
            <a:off x="8832880" y="3930000"/>
            <a:ext cx="2103120" cy="300000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实测完成（有保留）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"/>
          <p:cNvSpPr txBox="1"/>
          <p:nvPr/>
        </p:nvSpPr>
        <p:spPr>
          <a:xfrm>
            <a:off x="8832880" y="4300000"/>
            <a:ext cx="2734240" cy="197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结论：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每层 SCI 往返约 5.02 次，3 个数据集差 &lt;0.03（标准误 0.003–0.009）；纯 SCI 独立扫描（一次只做 1 个 ReLU、无 HE）为 5.01 ± 0.00，互相印证。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影响：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全混合 s11 = 2 + 2×6.02 = 14 次往返，是设计值 4 的 3.5 倍；“低交互”卖点要落在字节与客户端无逐次预处理上。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保留：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CIFAR 的总耗时斜率（2.3）与 6.02 差 &gt;1，服务器前向 17 s 淹没了 RTT 项，以 SCI 斜率为准。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E3 实验数据：RTT 扫描、每层边际代价与 Adaptive 选择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用实测 r_h = 6.02 重算：50/100 Mbps 下 RTT 越大越少用 hybrid（H3 得到支持）；10 Mbps 下仍由字节而非 RTT 决定，K_h* 恒为 0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06440" y="1325880"/>
            <a:ext cx="27432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每多一层 hybrid 的代价 (ms)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06440" y="1627632"/>
          <a:ext cx="2743198" cy="16459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719527"/>
                <a:gridCol w="674557"/>
                <a:gridCol w="674557"/>
                <a:gridCol w="67455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RTT (ms)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带宽 10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1165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241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1280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356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240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1461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536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421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838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722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200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2364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1440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1325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06440" y="3310128"/>
            <a:ext cx="27432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= 6.02 × RTT + 4.0 ms（解密+再加密）+ 1410.2 KB ÷ 带宽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32520" y="1325880"/>
            <a:ext cx="301752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自适应选的 hybrid 层数 K_h*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732520" y="1627632"/>
          <a:ext cx="3017518" cy="117043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640000"/>
                <a:gridCol w="790000"/>
                <a:gridCol w="790000"/>
                <a:gridCol w="797518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 → 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 → 1 → 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 → 1 → 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 → 1 → 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 → 1 → 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860000"/>
            <a:ext cx="3017520" cy="9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“→”：RTT 从 1 增到 200 ms 时 K_h* 依次下降；CIFAR/UCI 在 50、100 Mbps 下 2→1→0；MNIST 只在 100 Mbps、RTT≤5 ms 时买得下 1 层。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462272"/>
            <a:ext cx="5120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3  网络开销占端到端时间的比例（10 Mbps，3 数据集区间）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736592"/>
          <a:ext cx="5120640" cy="102412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828800"/>
                <a:gridCol w="1645920"/>
                <a:gridCol w="164592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 Mbps 下的网络占比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RTT = 1 ms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RTT = 200 ms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纯同态 s00（2 次往返）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5.7–18.9%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8.0–24.8%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全混合 s11（14 次往返）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17.0–43.2%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27.7–58.7%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其中仅“往返等待”部分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0.1–0.2%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13.0–27.5%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erdict"/>
          <p:cNvSpPr/>
          <p:nvPr/>
        </p:nvSpPr>
        <p:spPr>
          <a:xfrm>
            <a:off x="5806440" y="3931920"/>
            <a:ext cx="5943600" cy="246888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Verdict pill"/>
          <p:cNvSpPr/>
          <p:nvPr/>
        </p:nvSpPr>
        <p:spPr>
          <a:xfrm>
            <a:off x="5989320" y="407822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部分达到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0" y="4059935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89320" y="4498848"/>
            <a:ext cx="557784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用实测 r_h 后，CIFAR/UCI 在 50/100 Mbps 下 K_h* 随 RTT 单调下降（2→1→0），H3 方向成立。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仍弱：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Mbps 下每层要多传 1410 KB（≈1155 ms），远大于 RTT 项，K_h* 恒为 0；MNIST 几乎不出现 hybrid。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口径：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全混合的往返从设计的 4 次变为 14 次；RTT=200 ms 时“往返等待”占端到端的 13–28%，不再可忽略。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缺口：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曲线是模型值；E3 全网格 216 点 netem 暂缓；无 Delphi 曲线（其在线往返数未计）。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数据：重算自 results/raw_results/E3/all/rtt_scan/（r_h = r_h_netem_*.json，6.025）；占比由 rows 复算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E4 通信开销：实验目的与实验思路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检验 H4：客户端每次查询的上下行字节，以及一次性评估密钥的大小，是否低于 TenSEAL naive 与 Delphi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对应假设 H4：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客户端上行 + 下行通信量 &lt; TenSEAL naive 方案与 Delphi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方案产出：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Table 7（上传 / 下载 / 密钥 / 总量，方法 × 数据集）+ 密钥量单独柱图（按需裁剪旋转键 vs Delphi）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在线下行单独拆分：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加性共享路线（份额 + OT 消息）vs GC 路线（在线混淆表，MB 级），与 E7 非线性路线消融共用数据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协议依据：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协议设计 §6.1 给出密文字节预测 2·N·⌈log₂q_L/8⌉（L7 ≈ 336 KB … L2 ≈ 128 KB）；§6.4 说“按 plan 裁剪旋转键”是密钥压缩的核心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实测值落盘、与预测对照；密钥与下行字节显著低于 Delphi 与 GC 路线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本轮新增：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 档线格式（对称加密种子化、发送前降层、zstd、短模数链、compact 组合）逐字节实测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逐层序列化：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comm_bytes.py 用 SEAL 4.1.2 把 L7→L2 每个 level 的密文、pk/relin/galois/sk 逐个序列化计字节，与协议预测比值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734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6974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按调度汇总：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沿消息链 M1 → ①/② → M3 累加，得到 s00/01/10/11 每次查询的 S_up / S_down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1912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154680"/>
            <a:ext cx="5422392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旋转键裁剪：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key_compression.py 推导所需位移 R = R_conv ∪ R_mm，只生成 ±2^i（i ≤ max_rot_pow）的 Galois 键，扫 max_rot_pow = 0…11；裁剪后跑 MNIST 3 样本验证预测不变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4014215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3977639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 种子：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seed 73–77 各跑一遍（字节应与种子无关，用于确认）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60720" y="4480559"/>
            <a:ext cx="1078992" cy="8229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M0 一次性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pk+relin+galois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184.6 MB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940296" y="4480559"/>
            <a:ext cx="1078992" cy="8229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M1 上行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fresh L7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917,625 B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19871" y="4480559"/>
            <a:ext cx="1078992" cy="8229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 下行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ct_{z+r}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524–787 KB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299448" y="4480559"/>
            <a:ext cx="1078992" cy="8229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② 上行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Enc(c_c) L7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917,625 B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479024" y="4480559"/>
            <a:ext cx="1078992" cy="8229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M3 下行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ct_y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262–787 KB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60720" y="5349240"/>
            <a:ext cx="58064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①② 只在 s_k = 1 的层出现；字节由 CKKS 参数和调度决定，与种子、设备无关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脚本：analysis/comm_bytes.py、key_compression.py、measure_wire_bytes.py；seal/litepi_seal.cpp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15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E4 实验数据：密文字节阶梯、每次查询字节与密钥量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字节全部实测、5 种子逐字节一致；实测密文是协议预测的 2.0–2.7 倍，旋转键裁剪只省 3.98%；下一页的新线格式把每查询字节再压低 3.8–5.9 倍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75488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CKKS 密文逐层字节（SEAL 4.1.2 序列化）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4754880" cy="19202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97280"/>
                <a:gridCol w="731520"/>
                <a:gridCol w="1005840"/>
                <a:gridCol w="1005840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密文层级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模数位数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实测字节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协议预测字节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实测÷预测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L7（fresh）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917,625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344,064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2.67×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L6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786,553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311,296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2.53×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L5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655,481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262,144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2.50×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L4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103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524,409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212,992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2.46×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L3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393,337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180,224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2.18×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L2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262,265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131,072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2.00×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475488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每次查询上传/下载字节（B，未含 OT）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959352"/>
          <a:ext cx="4754880" cy="13716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731520"/>
                <a:gridCol w="1371600"/>
                <a:gridCol w="137160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调度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上传字节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下载字节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合计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917,625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262,265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1.18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1,835,275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1,312,115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3.15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1,835,275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1,312,116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3.15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2,752,909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2,360,822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5.11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40680" y="1371600"/>
          <a:ext cx="63093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40680" y="3959352"/>
          <a:ext cx="2926080" cy="148132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650000"/>
                <a:gridCol w="127608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一次性密钥的组成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字节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公钥 pk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1,048,689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重线性化密钥 relin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7,340,887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旋转密钥 galois（24 个）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176,245,344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合计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184,634,920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裁剪后（23 个旋转密钥）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177,294,097（−3.98%）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Verdict"/>
          <p:cNvSpPr/>
          <p:nvPr/>
        </p:nvSpPr>
        <p:spPr>
          <a:xfrm>
            <a:off x="8549640" y="3959352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2519" y="4050791"/>
            <a:ext cx="283464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Verdict pill"/>
          <p:cNvSpPr/>
          <p:nvPr/>
        </p:nvSpPr>
        <p:spPr>
          <a:xfrm>
            <a:off x="8732519" y="441655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部分达到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32519" y="4837176"/>
            <a:ext cx="2834640" cy="1472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字节全部实测、可复现；Delphi 的通信量已有实测（见 E2 对照页），H4 的比较有了一侧数据。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 无 TenSEAL naive 对照；② 实测为预测的 2.0–2.67 倍（SEAL 每个 RNS 素数按 64 bit 存、未压缩），协议 §6 字节表要改；③ 卷积的窗口位移要到 2^11，旋转键裁剪几乎无效；④ OT 字节未单独计量。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5560000"/>
            <a:ext cx="7909560" cy="8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改进方向 → 已实现并实测（下一页）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客户端持私钥，用对称加密 + 种子序列化；服务端发 ①、M3 前降到最低层；密钥用种子序列化；hybrid 调度用更短的模数链。这些让每查询字节降 3.8–5.9 倍、密钥降 3.9 倍；注意：端到端延迟收益尚未实测。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数据：results/raw_results/E4/all/comm_bytes/seed73–77、key_compression/seed73–77；E1/*/hybrid_s*_acc_seal（每次查询字节）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16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E4 压缩线格式：6 档方案逐字节实测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组合成 compact 档后，每次查询的上传+下载 s00 从 1.18 MB 降到 0.31 MB（3.8×），s11 从 5.11 MB 降到 0.87 MB（5.9×），一次性密钥 176→45.5 MiB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数据：results/raw_results/E4/all/wire_bytes/seed73.json；analysis/measure_wire_bytes.py、check_wire_canonical.py（压缩后逐样本正确性测试通过）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17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"/>
          <p:cNvSpPr txBox="1"/>
          <p:nvPr/>
        </p:nvSpPr>
        <p:spPr>
          <a:xfrm>
            <a:off x="457200" y="1325880"/>
            <a:ext cx="112928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MNIST 每次查询的字节（CIFAR / UCI 差 &lt;0.1%，与数据集无关；KB = 1000 B）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0" name="Table 线格式"/>
          <p:cNvGraphicFramePr>
            <a:graphicFrameLocks noGrp="1"/>
          </p:cNvGraphicFramePr>
          <p:nvPr/>
        </p:nvGraphicFramePr>
        <p:xfrm>
          <a:off x="457200" y="1650000"/>
          <a:ext cx="11292840" cy="2310000"/>
        </p:xfrm>
        <a:graphic>
          <a:graphicData uri="http://schemas.openxmlformats.org/drawingml/2006/table">
            <a:tbl>
              <a:tblPr firstRow="1"/>
              <a:tblGrid>
                <a:gridCol w="1100000"/>
                <a:gridCol w="3250000"/>
                <a:gridCol w="950000"/>
                <a:gridCol w="950000"/>
                <a:gridCol w="950000"/>
                <a:gridCol w="950000"/>
                <a:gridCol w="1700000"/>
                <a:gridCol w="1442840"/>
              </a:tblGrid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线格式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做了什么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 上传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(KB)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 下载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(KB)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s11 上传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(KB)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s11 下载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(KB)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总量缩小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(s00/s11)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一次性密钥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(MiB)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baseline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密文原样发送（上一版）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918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262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2753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2360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1.0× / 1.0×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176.1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seeded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客户端用对称加密 + 种子，密钥也用种子序列化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459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262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1377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2360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1.6× / 1.4×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88.1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modswitch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服务器发送前把密文降到最低层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918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131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2753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918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1.1× / 1.4×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176.1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zstd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对序列化结果做 zstd 压缩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439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157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1314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1144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2.0× / 2.1×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91.0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shortchain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hybrid 调度用更短的模数链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918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262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1311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918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1.0× / 2.3×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176.1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compact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以上全部组合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217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94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347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522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3.8× / 5.9×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45.5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57200" y="4400000"/>
          <a:ext cx="5000000" cy="2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" name="Verdict"/>
          <p:cNvSpPr/>
          <p:nvPr/>
        </p:nvSpPr>
        <p:spPr>
          <a:xfrm>
            <a:off x="5650000" y="4400000"/>
            <a:ext cx="6100000" cy="200000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5832880" y="4491440"/>
            <a:ext cx="573424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Verdict pill"/>
          <p:cNvSpPr/>
          <p:nvPr/>
        </p:nvSpPr>
        <p:spPr>
          <a:xfrm>
            <a:off x="5832880" y="4830000"/>
            <a:ext cx="2103120" cy="300000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字节已达到，延迟未测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"/>
          <p:cNvSpPr txBox="1"/>
          <p:nvPr/>
        </p:nvSpPr>
        <p:spPr>
          <a:xfrm>
            <a:off x="5832880" y="5200000"/>
            <a:ext cx="5734240" cy="11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每查询字节与密钥都显著下降，对称加密、种子化、降层、zstd、短链各自的贡献逐项可见。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注意：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 zstd 需要编译了 zstd 的 SEAL；② 短模数链与调度混淆不能同时用（混淆需要假回合）；③ 压缩的 CPU 成本与端到端延迟收益尚未实测；④ Pi5 上的编解码耗时未测。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E5 Planner 有效性：实验目的与实验思路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检验 H5：Planner 选出的调度在精度–时延–交互上 Pareto 支配全 HE、全 Hybrid、随机和规则调度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对应假设 H5：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Adaptive 优于固定策略与随机调度（Pareto 支配）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 种策略（方案 E5）：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 HE-only、全 Hybrid、随机调度 ×5 平均、Rule-based、Greedy、Constrained / Adaptive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评价维度：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(Acc, T_client, R_online, M_client, E_client, L_e2e) 六维 Pareto 前沿（Fig. 8）+ Table 9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额外要求：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报 Planner 自身开销（搜索耗时、敏感度估计的评估次数）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为什么不用 canonical 网：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 = 2 只有 4 种调度，而且 P₂ 训练网不掉点（见 E1），Planner 退化为“选 s00”。所以改在 5 个非线性层的 CIFAR 深网上做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网络：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fast（32 通道，20,736 个 ReLU 元素）与 VGG（64 通道，164,096 个），5 个非线性层，调度空间 2^5 = 32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734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69748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精度模型：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单层 P₂ 重训几乎不掉点（−0.10 ~ +0.65）；多层累积用组合罚项 acc = base − 0.0025·k(k−1)，k = P₂ 层数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37413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337560"/>
            <a:ext cx="5422392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成本模型（已替换）：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客户端/MPC 时间由 E1/E2 实测拟合（MPC 9.66 ms/层 + 0.0037 ms/元素），服务器时间按(数据集, 调度)查 E1 实测表，字节取 E4 实测，往返数 r_h = 6.02；旧的 12.9 ms/元素、3996 B/元素（Python OT）已弃用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419709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4160520"/>
            <a:ext cx="5422392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策略求解：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rule（敏感度/元素数排序+深度修复）、greedy（逐层翻转最大增益/成本）、constrained（满足 acc_min 下穷举 32 种取最小时间 / 最少 MPC 元素）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760720" y="5020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49834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约束与验证：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acc_min ∈ {0.80, 0.84}；对 fast 的 00100 实际重训验证预测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脚本：analysis/planner.py、cost_model.py、gen_e5_data.py、measure_sensitivity.py；输出 results/E5/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18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E5 实验数据：VGG / fast 上的策略对比与 Pareto 前沿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用实测成本重算：VGG 上约束搜索选出的 00100（85.55%）比规则/贪心快约 31%、比全 hybrid 快约 47%；但精度与成本仍是模型预测，只有 1 个调度做过实测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704088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VGG 上各策略的选择结果（模型预测，r_h = 6.02）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7040875" cy="204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960751"/>
                <a:gridCol w="668437"/>
                <a:gridCol w="757563"/>
                <a:gridCol w="802125"/>
                <a:gridCol w="668437"/>
                <a:gridCol w="668437"/>
                <a:gridCol w="713000"/>
                <a:gridCol w="802125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策略（VGG）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每层选择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预测精度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需安全比较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ReLU 数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混合层数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端到端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时间 (s)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通信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(MB)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最优折中？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 hybrid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11111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88.55%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164,096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30.3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10.2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否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全纯同态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00000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83.55%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12.6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精度不达标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规则法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11001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88.05%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131,328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否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贪心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11001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88.05%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131,328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否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约束搜索（自适应）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00100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85.55%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16,384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16.1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是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随机调度 ×5 平均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87.95%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23.2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达标 5/5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26679" y="1371600"/>
          <a:ext cx="40233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429768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fast 网（精度下限 84%，模型预测）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59352"/>
          <a:ext cx="4297680" cy="12801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80160"/>
                <a:gridCol w="685800"/>
                <a:gridCol w="731520"/>
                <a:gridCol w="868680"/>
                <a:gridCol w="73152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fast 网（精度下限 84%）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每层选择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需安全比较的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ReLU 个数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时间 (s)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 hybrid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11111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85.09%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20,736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29.8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规则法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00111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84.59%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8,448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22.9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贪心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01101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84.59%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8,448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22.9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约束搜索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00111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84.59%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8,448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22.9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3959352"/>
          <a:ext cx="2560320" cy="12801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34440"/>
                <a:gridCol w="132588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实测验证与开销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数值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fast 00100：预测 → 实测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82.09% → 82.87%（+0.78）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规划器求解时间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0.13 ms（VGG）/ 0.14 ms（fast）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调度空间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32（穷举）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Verdict"/>
          <p:cNvSpPr/>
          <p:nvPr/>
        </p:nvSpPr>
        <p:spPr>
          <a:xfrm>
            <a:off x="7726679" y="4114800"/>
            <a:ext cx="4023360" cy="228600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Verdict pill"/>
          <p:cNvSpPr/>
          <p:nvPr/>
        </p:nvSpPr>
        <p:spPr>
          <a:xfrm>
            <a:off x="7909559" y="426110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部分达到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49840" y="4242816"/>
            <a:ext cx="141732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09559" y="4681728"/>
            <a:ext cx="365760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VGG 的最优折中前沿 5 点，约束搜索占其中最便宜的一点，快规则/贪心 31%、快全 hybrid 47%；成本常数已换成实测拟合 + r_h=6.02。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1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不支配随机：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随机×5 平均精度 87.95% 更高（时间 23.2 s），自适应对它的“支配”为 0/5——它的价值是“满足精度下限的最便宜点”。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1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仍是模型：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精度来自罚项、深网服务器时间由浅网外推；00100 依赖尚未实现的 P₂→卷积重排，当前代码能跑的最优是 11100（23.4 s，慢 45%）。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5440680"/>
            <a:ext cx="7040880" cy="96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读法：“每层选择”里 0=多项式、1=ReLU，精度下限 84%。VGG 上只在 conv3 用精确 ReLU 就保住 85.55%；fast 网上三种启发式都收敛到 8,448 个 ReLU 元素的 00111（22.9 s）。要求代码现在就能跑则需 11100：fast 上时间几乎相同，VGG 上慢 45%。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数据：results/E5/e5_planner_{vgg,fast}.json（提交 0230273，已按实测 r_h = 6.025 重算）；实测验证见 docs/实验数据.md（E5 节）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19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E6 客户端能耗：实验目的与实验思路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量化客户端每次查询消耗的能量，把“低交互”换算成电池寿命——这是 IoT 场景最直观的指标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方案要求：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功率计采样，测完整在线阶段能耗，方法 × 设备（Pi4 / Pi5）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分解：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计算能耗（CPU 段积分）与通信能耗（收发段积分）分开报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产出：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Fig. 7 能耗对比柱状图 + 换算表：每日推理次数下的电池寿命（mAh）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预期：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低交互模式（s00）通信能耗显著下降；hybrid 层越多，收发段越长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与其它实验的关系：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 只给了时间和内存；能耗是方案 §6.1 六项客户端指标中唯一还空着的 E_client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换算口径（计划）：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电池能量 = 容量 × 电压，例如 3000 mAh × 3.7 V ≈ 40 kJ；每日可推理次数 = 可用能量 / 单次查询能耗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实验思路：计划怎么测（尚未开展）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设备：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PowerZ / J7-C 类 USB 功率计串在 Pi5 供电线上（≥1 kHz），客户端与服务器分机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5511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51460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对齐：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客户端在每段开始/结束写高精度时间戳，与功率采样对齐后分段积分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0083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29718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矩阵：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 数据集 × 4 调度 × 5 种子；每点 25 次查询取均值；另测空载与仅网络收发两条基线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36484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361188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一次性成本单列：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Setup 阶段（keygen + 上传 184.6 MB 密钥）单独积分，按“每 N 次查询摊销”报告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60720" y="4297680"/>
            <a:ext cx="1371600" cy="6858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USB 功率计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≥ 1 kHz 采样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178040" y="4636008"/>
            <a:ext cx="36576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89520" y="429768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Raspberry Pi 5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客户端进程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9098280" y="4636008"/>
            <a:ext cx="36576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09760" y="4297680"/>
            <a:ext cx="2057400" cy="6858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服务器（另一台机）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只作对端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60720" y="5047488"/>
            <a:ext cx="58064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功率曲线与客户端日志按时间戳对齐：编码/加密/解密段积分 = 计算能耗；收发段积分 = 通信能耗；扣除空载基线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依据：实验方案 §2.1（能耗测量）、§6.1、§7 E6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E6 实验数据：尚未开展——缺少 USB 功率计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没有任何能耗实测数据；下面是待填表和已经具备的输入，不做能耗估算以免出现无来源的数字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67665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Fig. 7 / 换算表的待填模板（Pi5）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6766560" cy="204825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71600"/>
                <a:gridCol w="1188720"/>
                <a:gridCol w="1188720"/>
                <a:gridCol w="1280160"/>
                <a:gridCol w="173736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 · 调度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计算能耗 (mJ)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通信能耗 (mJ)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单次总能耗 (mJ)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每日 1000 次的电池寿命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 · s00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 · s11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 · s00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 · s11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 · s00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 · s11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40480"/>
            <a:ext cx="67665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能耗实验可直接复用的输入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133087"/>
          <a:ext cx="6766560" cy="14173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657600"/>
                <a:gridCol w="3108960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已具备的输入（来自 E2/E4）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数值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Pi5 客户端计算时间（HE-only）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≈ 20 ms / 次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每次查询字节 s00 / s11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1.18 MB / 5.11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一次性 Setup 上传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184.6 MB（Wi-Fi 实测约 36 s）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 Wi-Fi 吞吐（Pi5↔桌面）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上行 4.41 MB/s · 下行 4.94 MB/s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50992"/>
            <a:ext cx="676656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值得提前注意：按上面的输入，s11 单次查询的通信时长（约 1 s）远长于计算（约 20 ms），能耗很可能由 Wi-Fi 收发主导；Setup 的 184.6 MB 上传可能比数百次查询更耗电，必须单列。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Verdict"/>
          <p:cNvSpPr/>
          <p:nvPr/>
        </p:nvSpPr>
        <p:spPr>
          <a:xfrm>
            <a:off x="7452360" y="1371600"/>
            <a:ext cx="4297680" cy="5029200"/>
          </a:xfrm>
          <a:prstGeom prst="roundRect">
            <a:avLst>
              <a:gd name="adj" fmla="val 6000"/>
            </a:avLst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Verdict pill"/>
          <p:cNvSpPr/>
          <p:nvPr/>
        </p:nvSpPr>
        <p:spPr>
          <a:xfrm>
            <a:off x="7635240" y="151790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未开始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75520" y="1499616"/>
            <a:ext cx="16916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35240" y="1938528"/>
            <a:ext cx="3931920" cy="4389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原因：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实验室没有 ≥1 kHz 的 USB 功率计；方案 §2.1 列的 Monsoon / PowerZ / J7-C 均未到位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附带风险：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Pi5 在 10-28 01:36 整机掉电重启（疑似供电问题，审计 §9.5）；功率计串入供电后也能顺便监测这一问题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需要的决定：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采购或借用 USB 功率计；需先确认型号的记录采样率能达到方案要求的 ≥1 kHz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到位后工作量：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脚本可复用 eval_client_overhead.py 的分段计时，主要工作是时间戳对齐与积分（估计 1–2 天）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论文影响：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Fig. 7 与电池寿命换算表空缺；若来不及，正文只能删去能耗相关的客户端成本论述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依据：实验方案 §2.1、§6.1、§7 E6；docs/实验完成计划.md“E6/E8 未启动”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21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E7 消融实验：实验目的与实验思路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方案列了 8 项消融，已完成 4 项：随机截断 vs 直接截断、掩码复用（并入 E10a）、去掉规划器、去掉客户端感知（后两项在规划器模型上做）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 Table 8 的目的：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逐项去掉 LitePI 的一个设计，看客户端成本或精度反弹多少，证明每个设计都有用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本次完成的子项：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定点截断误差分析——回应 CryptGPU 式审稿质疑：份额域 Beaver 乘法后除以 2^f 只能随机截断，否则会有系统性偏差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协议依据：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协议设计 §4.2 实现注意事项：“份额域上的乘法伴随随机截断/随机舍入，误差分析对接 E7 消融”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随机截断无偏；直接截断偏差随累加长度线性增长；5 种子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需要核对的一点：</a:t>
            </a:r>
            <a:r>
              <a:rPr lang="zh-CN" sz="1200" b="0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LitePI 的线性层在 HE 侧计算，份额域只做 ReLU（比较 + 选择）。份额域里到底有没有定点乘法，要先和协议对齐，否则这项消融与主协议的关联很弱</a:t>
            </a:r>
            <a:endParaRPr lang="zh-CN" sz="1200" b="0" i="0">
              <a:solidFill>
                <a:srgbClr val="D6454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误差定义：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 = 8 位小数，LSB = 2^-8；v_2f = to_fixed(x)·to_fixed(w) 是 2f 位精确乘积；误差 = 截断结果 − v_2f/2^f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734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6974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两种截断：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direct = floor(v/2^f)；random = 以 (v mod 2^f)/2^f 的概率进位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1912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1546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E7a 单次统计：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值域 [−8, 8]，每种子 200,000 个样本，统计 bias / var / rms / max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36484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36118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E7c 点积累加：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n ∈ {1, 4, …, 4096} 项乘积分别截断后累加，每种子 4000 次蒙特卡洛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760720" y="4087368"/>
          <a:ext cx="5806440" cy="16002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657600"/>
                <a:gridCol w="2148840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方案 Table 8 消融项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状态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去掉随机截断（改直接截断）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已做（本节）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掩码复用（违反 M1）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已做（并入 E10a）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去掉规划器（固定纯同态）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已做（模型，见 E7 规划器页）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去掉客户端感知目标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已做（模型；浅网无差异）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去掉预处理 / 打包 / 融合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未做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非线性路线换 GC+OT（EMP）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未做（EMP 未集成）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0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脚本：analysis/gen_e7_data.py（Python 参考实现 hybrid_mpc.py 的 direct_truncate / random_truncate）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22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E7 实验数据：随机截断与直接截断的误差统计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直接截断每次稳定向下偏 0.49 个最小刻度，累加 4096 项后偏 −2006；随机截断始终无偏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486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E7a 单次截断（每种子 200,000 样本，5 种子）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5486400" cy="87782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63040"/>
                <a:gridCol w="1371600"/>
                <a:gridCol w="822960"/>
                <a:gridCol w="82296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截断方式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平均偏差（最小刻度 LSB）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方差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均方根误差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最大误差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direct 直接截断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−0.4903 ± 0.0006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0.0841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0.5697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≤ 0.996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random 随机截断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+0.0003 ± 0.0007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0.1660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0.4075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≤ 0.995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697480"/>
            <a:ext cx="5486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E7c n 元点积累加后的偏差（LSB，5 种子均值）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99232"/>
          <a:ext cx="5486400" cy="212140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63040"/>
                <a:gridCol w="2011680"/>
                <a:gridCol w="2011680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累加项数 n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直接截断的偏差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随机截断的偏差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−0.506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−0.017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−1.957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+0.002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−7.825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+0.002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64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−31.32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+0.078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256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−125.2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+0.35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1024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−501.5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+0.73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4096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−2006.1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+1.65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72200" y="1371600"/>
          <a:ext cx="55778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Verdict"/>
          <p:cNvSpPr/>
          <p:nvPr/>
        </p:nvSpPr>
        <p:spPr>
          <a:xfrm>
            <a:off x="6172200" y="4526280"/>
            <a:ext cx="5577840" cy="1874519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Verdict pill"/>
          <p:cNvSpPr/>
          <p:nvPr/>
        </p:nvSpPr>
        <p:spPr>
          <a:xfrm>
            <a:off x="6355080" y="467258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子项达到 / 整体部分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5360" y="4654296"/>
            <a:ext cx="2971799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5093208"/>
            <a:ext cx="5212079" cy="12344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截断子项达到验收：direct 偏差随 n 线性累积（−0.49 LSB/次），random 无偏、RMS 按 √n 增长（n=4096 时 123 vs 2010 LSB）。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整体：8 项消融只做了 1 项（掩码复用并入 E10a）；本项是 Python 参考算子的统计，未在 SCI 实际推理中替换后测精度；GC 路线对照因 EMP 未集成而缺失。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5257800"/>
            <a:ext cx="5486400" cy="114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怎么读：bias 是“每次乘法都往同一方向偏”，无法靠平均消掉；在 n = 256 / 1200 / 4096（canonical 各层宽度与输入槽位）这样的累加长度上，直接截断的偏差会到百到千 LSB 量级（2^8 定点域只有 256 LSB / 单位），足以改变激活符号。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数据：results/E7/e7_truncation.{json,csv}、e7_summary.json（git 88acee2）；审计 §11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23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E7 规划器消融：去掉规划器、去掉“客户端感知”会怎样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去掉规划器在深网上掉 2–5 个点并低于精度下限；去掉客户端感知在所有网络上都选同一调度——这一项目前得不到“反弹”，不能当作设计有效的证据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数据：重算自 analysis/gen_e7_ablations.py（r_h=6.025，x86 桌面，RTT 50 ms，50 Mbps）；results/E7/e7_planner_ablations.*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24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"/>
          <p:cNvSpPr txBox="1"/>
          <p:nvPr/>
        </p:nvSpPr>
        <p:spPr>
          <a:xfrm>
            <a:off x="457200" y="1325880"/>
            <a:ext cx="112928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三种配置的选择结果（每个网络一行；精度下限：MNIST 97.5%、CIFAR 59%、UCI 89%、深网 84%）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0" name="Table 规划器消融"/>
          <p:cNvGraphicFramePr>
            <a:graphicFrameLocks noGrp="1"/>
          </p:cNvGraphicFramePr>
          <p:nvPr/>
        </p:nvGraphicFramePr>
        <p:xfrm>
          <a:off x="457200" y="1650000"/>
          <a:ext cx="11292840" cy="3000000"/>
        </p:xfrm>
        <a:graphic>
          <a:graphicData uri="http://schemas.openxmlformats.org/drawingml/2006/table">
            <a:tbl>
              <a:tblPr firstRow="1"/>
              <a:tblGrid>
                <a:gridCol w="1500000"/>
                <a:gridCol w="3400000"/>
                <a:gridCol w="3400000"/>
                <a:gridCol w="2992840"/>
              </a:tblGrid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网络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完整 LitePI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（调度 · 精度 · 端到端）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去掉规划器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（固定为全纯同态）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去掉客户端感知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（只按服务器时间选）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 · 97.97% · 5.1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 · 60.59% · 18.3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 · 90.34% · 14.9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fast（深网）</a:t>
                      </a:r>
                      <a:endParaRPr lang="zh-CN" sz="10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00111 · 84.59% · 24.0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00000 · 80.09% · 12.9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低于精度下限 84%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00111 · 84.59% · 24.0 s（同完整）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VGG（深网）</a:t>
                      </a:r>
                      <a:endParaRPr lang="zh-CN" sz="10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00100 · 85.55% · 16.7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00000 · 83.55% · 12.9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低于精度下限 84%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00100 · 85.55% · 16.7 s（同完整）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Verdict"/>
          <p:cNvSpPr/>
          <p:nvPr/>
        </p:nvSpPr>
        <p:spPr>
          <a:xfrm>
            <a:off x="457200" y="4850000"/>
            <a:ext cx="11292840" cy="150000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"/>
          <p:cNvSpPr txBox="1"/>
          <p:nvPr/>
        </p:nvSpPr>
        <p:spPr>
          <a:xfrm>
            <a:off x="640080" y="4941440"/>
            <a:ext cx="220000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Verdict pill"/>
          <p:cNvSpPr/>
          <p:nvPr/>
        </p:nvSpPr>
        <p:spPr>
          <a:xfrm>
            <a:off x="640080" y="5330000"/>
            <a:ext cx="2103120" cy="320000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 项中 1 项有效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"/>
          <p:cNvSpPr txBox="1"/>
          <p:nvPr/>
        </p:nvSpPr>
        <p:spPr>
          <a:xfrm>
            <a:off x="2957200" y="4910000"/>
            <a:ext cx="8642840" cy="1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去掉规划器：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深网上固定纯同态会比完整方案低 4.5 点（fast）/ 2.0 点（VGG），低于 84% 的下限；浅网上没有差别，因为 P₂ 训练的网不掉点（E1）。规划器的价值只在深网上出现。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去掉客户端感知：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hybrid 层同时增加客户端和服务器开销，两个目标一致，选择完全相同，反弹 = 0。这是网络本身的性质，不是实现问题；论文要么改用深网并实测服务器时间，要么如实写“在 K=2 的网络上两个目标一致”。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E8 设备异构性：实验目的与实验思路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检验 Planner 是否“感知设备”：同一模型放到强弱不同的客户端上，弱设备应被分配更保守（更少交互）的调度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方案要求：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同一配置在 4 档客户端设备上运行，Planner 按各设备 profile 重新规划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产出：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Table 10 + 归一化对比（各设备 T_client 除以其 CPU 基准分）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预期：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弱设备上 Planner 自动更保守（K_h 更小），证明 profile 感知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与协议的关系：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 §7.3 Planner 输入包含 client profile；若调度对设备不敏感，“资源感知”这一贡献就站不住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需要提前想清楚的一点：</a:t>
            </a:r>
            <a:r>
              <a:rPr lang="zh-CN" sz="1200" b="0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 显示客户端计算只有 4–20 ms，而服务端前向 4–100 s，客户端快慢几乎不影响端到端；真正可能区分设备的是内存与一次性密钥（176 MiB）——客户端峰值内存约 112 MB</a:t>
            </a:r>
            <a:endParaRPr lang="zh-CN" sz="1200" b="0" i="0">
              <a:solidFill>
                <a:srgbClr val="D6454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实验思路：计划怎么做（尚未正式开展）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设备档位：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x86 桌面、远程容器 101、Raspberry Pi 5（A76 2.4 GHz）、Raspberry Pi 4（A72 1.5 GHz，待借）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734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6974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每台测同一组指标：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HE-only 与 s11 两种调度，3 数据集 × 5 种子，沿用 E2 脚本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1912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15468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把内存作为约束：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profile 里加入可用内存与可接受的 Setup 下载量，让 Planner 在内存不足时换更短的模数链 / 更少密钥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760720" y="3840480"/>
            <a:ext cx="1325880" cy="868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测设备 profile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T_enc / T_dec / SCI 客户端 / RSS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7095744" y="4270248"/>
            <a:ext cx="13716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42048" y="3840480"/>
            <a:ext cx="1325880" cy="868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生成 client profile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写入 planner 输入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577072" y="4270248"/>
            <a:ext cx="13716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723376" y="3840480"/>
            <a:ext cx="1325880" cy="8686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Planner 重新规划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输出各设备的 s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0058400" y="4270248"/>
            <a:ext cx="13716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204704" y="3840480"/>
            <a:ext cx="1325880" cy="868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对比与归一化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T_client / CPU 基准分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依据：实验方案 §7 E8；协议设计 §7.3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25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E8 实验数据：x86 / Pi5 两档设备上的规划器输出（Table 10）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Pi5 客户端计算是 x86 的 4.1×，但规划器在两台设备上选出的调度完全相同——客户端计算占端到端不到 2%；内存约束是否会改变选择，要等 hybrid 内存增量实测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73152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跨平台对照（来自 E2；时延不能跨机混算）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7315200" cy="280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828800"/>
                <a:gridCol w="2103120"/>
                <a:gridCol w="1325880"/>
                <a:gridCol w="1234440"/>
                <a:gridCol w="822960"/>
              </a:tblGrid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设备 · 网络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规划器选的调度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计算耗时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内存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端到端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时间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桌面 · 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10.2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5.1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桌面 · 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10.2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18.3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桌面 · 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10.2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14.9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桌面 · fast(深网)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00111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97.5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24.0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桌面 · VGG(深网)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90.1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16.7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Raspberry Pi 5 · 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42.0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5.2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Raspberry Pi 5 · 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42.0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18.4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Raspberry Pi 5 · 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42.0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14.9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Raspberry Pi 5 · fast(深网)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00111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395.7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24.3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Raspberry Pi 5 · VGG(深网)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364.1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16.9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650000"/>
            <a:ext cx="7315200" cy="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说明：“客户端内存”列待按新的客户端内存（x86 · MNIST 112.6 MB）重填，规划器的内存 profile 也要随之更新；深网的调度取“不限内存”时的结果，planner 有内存预算时会排除所有 hybrid 调度，那是缺数据造成的假象。Pi5 无 AVX2，SEAL 只能走 NEON，4.1–4.7× 属架构固有差距。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01000" y="1371600"/>
          <a:ext cx="3749039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Verdict"/>
          <p:cNvSpPr/>
          <p:nvPr/>
        </p:nvSpPr>
        <p:spPr>
          <a:xfrm>
            <a:off x="8001000" y="3840480"/>
            <a:ext cx="3749039" cy="256032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83879" y="3931920"/>
            <a:ext cx="3383279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Verdict pill"/>
          <p:cNvSpPr/>
          <p:nvPr/>
        </p:nvSpPr>
        <p:spPr>
          <a:xfrm>
            <a:off x="8183879" y="42976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部分完成（模型）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83879" y="4718304"/>
            <a:ext cx="3383279" cy="16093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已做：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x86 / Pi5 两档设备 profile 已进规划器并产出 Table 10；Pi5 客户端计算 42 ms（桌面 10 ms），端到端只差 0.03 s。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发现：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两台设备选出的调度相同——设备算力对规划结果几乎没有影响；这是 E8 假设（弱设备更保守）目前得不到支持的原因。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缺口：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 Pi4；客户端内存（含 hybrid）要用独立进程重测，内存约束暂时无法检验。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5532120"/>
            <a:ext cx="731520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下一步：用 measure_client_memory.py 在 Pi5 上测独立客户端进程的内存（含 hybrid），借 Pi4，再用 1 GB 内存预算重跑 planner，看弱设备是否被迫退回纯同态。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数据：results/E8/e8_devices.json（提交 0230273，已按实测 r_h 重算）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26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E9 极端网络场景：实验目的与实验思路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检验链路劣化（丢包、抖动）是否会被交互轮数放大：轮数越多越脆弱，Adaptive 应最稳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方案设计：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丢包率 {0, 1, 5%} × RTT 抖动 ±30 ms × 3 档网络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预期：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轮数多的 Hybrid-all 受抖动影响最大，Adaptive 鲁棒性最好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协议依据：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 §12 差异化主张 2“轮数可控性”：s = 00 时 2 轮；每个 hybrid 层只加 r_h 轮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本次实际回答的问题：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 丢包/抖动给每次查询增加多少期望时延和 p95；② 会不会改变 Planner 的 K_h*；③ 把每层合并成少量往返，相比逐元素 OT 能把放大效应压低多少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前提假设：</a:t>
            </a:r>
            <a:r>
              <a:rPr lang="zh-CN" sz="1200" b="0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 E3 相同，用 r_h = 1；该值尚未实测（CrypTFlow2 原文 ReLU 为 log ℓ + 2 轮）</a:t>
            </a:r>
            <a:endParaRPr lang="zh-CN" sz="1200" b="0" i="0">
              <a:solidFill>
                <a:srgbClr val="D6454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网格：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 数据集 × 3 调度 × 6 RTT × 3 带宽 × 3 丢包 × 2 抖动 = 972 个点（gen_e9_data.py）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5511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51460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计算/字节项复用 E3：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 五种子聚合、E4 每层 1410.2 KB、SCI 每层 48.6 ms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0083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297180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Planner 判定：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约束 p95(s) ≤ 1.05 × p95(s=00)，看 K_h* 是否随丢包变化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34655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342900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对照：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旧原型逐元素 OT（每层 27×4 次往返，s11 时 R = 218）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60720" y="3904487"/>
            <a:ext cx="5806440" cy="13258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897880" y="3950208"/>
            <a:ext cx="557784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解析模型（p = 丢包率，J = 抖动幅度，R = 往返次数）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50" b="0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E[T] = C + R·RTT / (1 − p)        （TCP 式重传，每跳期望 1/(1−p) 次）</a:t>
            </a:r>
            <a:endParaRPr lang="zh-CN" sz="1050" b="0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50" b="0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var = (2J)²/12 + RTT²·p / (1−p)²   （均匀抖动 + 几何重传方差）</a:t>
            </a:r>
            <a:endParaRPr lang="zh-CN" sz="1050" b="0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0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T_p95 = E[T] + 1.645·√(R·var)，  R = 2 + K_h·r_h</a:t>
            </a:r>
            <a:endParaRPr lang="zh-CN" sz="1050" b="0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脚本：analysis/gen_e9_data.py；输出 results/E9/；审计 §13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27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E9 实验数据：丢包与抖动下的时延增量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用实测 r_h = 6.02 重算：s11 一次查询 14 次往返；RTT 100 ms、5% 丢包 + ±30 ms 抖动下平均多花 74 ms、最慢 5% 情形多花 254 ms；K_h* 对丢包不敏感，只随 RTT 与带宽变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486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每次查询的网络额外时延（s11，14 次往返）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5486400" cy="14173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108960"/>
                <a:gridCol w="1188720"/>
                <a:gridCol w="1188720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条件（RTT 100 ms，10 Mbps）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平均多花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最慢 5% 多花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不丢包、无抖动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不丢包，抖动 ±30 ms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+106.8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丢包 1%，抖动 ±30 ms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+14.2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+137.8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丢包 5%，抖动 ±30 ms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+73.9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+254.1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80"/>
            <a:ext cx="5486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自适应选的 hybrid 层数 K_h*（丢包不影响）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456432"/>
          <a:ext cx="5486400" cy="113385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71600"/>
                <a:gridCol w="2011680"/>
                <a:gridCol w="2103120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100 Mbps（RTT 1→200 ms）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0（全 RTT）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0（全 RTT）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0（全 RTT）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 → 1 → 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0（全 RTT）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 → 1 → 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72200" y="1325880"/>
            <a:ext cx="55778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3  往返次数决定放大倍数（5% 丢包，±30 ms）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627632"/>
          <a:ext cx="5577840" cy="15087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377440"/>
                <a:gridCol w="731520"/>
                <a:gridCol w="1188720"/>
                <a:gridCol w="128016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方案（s11）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往返次数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平均多花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最慢 5% 多花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设计目标 r_h = 1（未达到）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21.1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117.2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 r_h = 6.02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73.9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254.1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文献估算 r_h = 7（log ℓ+2）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84.2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276.5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旧原型逐元素 OT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218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1.15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1.86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3270000"/>
            <a:ext cx="5577840" cy="6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说明：第 1 行是设计目标，仅作对照；第 2 行用实测 r_h 代入同一公式；第 4 行是旧原型（每层 27×4 次往返）。旧原型无损时的期望时延本身就有 29.2 s。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Verdict"/>
          <p:cNvSpPr/>
          <p:nvPr/>
        </p:nvSpPr>
        <p:spPr>
          <a:xfrm>
            <a:off x="6172200" y="3703320"/>
            <a:ext cx="5577840" cy="269748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Verdict pill"/>
          <p:cNvSpPr/>
          <p:nvPr/>
        </p:nvSpPr>
        <p:spPr>
          <a:xfrm>
            <a:off x="6355080" y="384962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部分达到（解析模型）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0" y="3831335"/>
            <a:ext cx="2971799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4270248"/>
            <a:ext cx="5212079" cy="2057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4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成立的结论：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鲁棒性来自往返次数有上界（实测 r_h 下 canonical 14 次、VGG 32 次），而不是逐元素往返的 218 次；丢包不改变调度决策。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4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结论修正：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原先“218 → 4”的对比要改成“218 → 14”；最慢 5% 的额外时延约 0.25 s，仍远小于秒级的服务器前向，方向不变，倍数变小。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缺口：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netem 版 E9 网格（≈2.3 h）暂缓，仍是解析模型；“自适应最稳”没有直接对应的数据。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548640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怎么读：MNIST s11 在 5% 丢包时期望时延只比无丢包高约 0.8%（8904 vs 8831 ms）。原因不是链路好，而是服务器前向（4.1 / 15.5 / 12.5 s）把网络项压成了小量。所以 E9 只能支撑“往返次数有界 ⇒ 劣化不放大”，不能支撑“丢包越多规划器越少用 hybrid”。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数据：results/E9/e9_robustness.csv（972 行）、e9_adaptive.csv、e9_summary.json；审计 §13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28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 泄漏量化：实验目的与实验思路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把多查询安全从“我们遵守 M1–M3”升级为“量化证据”：复用掩码完全泄露、新鲜掩码 + 输出最小化时攻击退化为随机猜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对应假设 H6：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新鲜掩码下成员推理 AUC ≈ 0.5；掩码复用（对照）显著泄露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三个子实验：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E10a 掩码复用攻击；E10b 成员推理（全 logits vs 仅类别索引）；E10c 调度混淆（dummy-round）的额外开销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协议依据：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 §8 掩码规则：M1 一次性 r = PRG(seed, q‖k)；M2 掩码域覆盖激活域；M3 计数器失步即中止重新 Setup。§9 输出档位 A（logits）/ B（只给索引）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本轮修复：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M2 掩码域改为 ±2^σ·B_k（σ=36–39），对照组保留旧规则 v1；E10b 修了并列秩 bug，并修了采样混淆：成员/非成员按类别分层抽样、训练与评估集不重叠、增加 200 次置换检验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复用时恢复误差 ≈ 0；新鲜时为随机；仅索引 AUC 与置换零分布无显著差异；全 logits 是否显著 &gt; 0.5 看实测；5 种子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E10a：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 = 200 次查询，对照组故意让同一层复用 r，攻击者用两次掩码值之差恢复激活差分，度量残差/相对误差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734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69748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E10b：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影子模型式成员推理，300 成员 + 300 非成员，攻击特征分别取全 logits 与仅 argmax 索引，报告 AUC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37413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33756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E10c：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开/关调度混淆：纯同态层也走一整段 hybrid（含 SCI 流量），统计额外往返、字节与时延（本轮暂缓，见下一页的估算）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383133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379476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运行：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SEAL 4.1.2 HE-only，3 数据集 × 5 种子（73–77）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60720" y="4297680"/>
            <a:ext cx="1737360" cy="56692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查询 1：z₁ + r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0" y="4956048"/>
            <a:ext cx="1737360" cy="56692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查询 2：z₂ + r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7543800" y="4581144"/>
            <a:ext cx="548640" cy="32004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543800" y="4937760"/>
            <a:ext cx="548640" cy="301752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38160" y="4599432"/>
            <a:ext cx="1463040" cy="621792"/>
          </a:xfrm>
          <a:prstGeom prst="roundRect">
            <a:avLst>
              <a:gd name="adj" fmla="val 6000"/>
            </a:avLst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相减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= z₁ − z₂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92640" y="4480560"/>
            <a:ext cx="1874519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复用同一个 r：掩码完全抵消，激活差分直接暴露；新鲜 r：差值仍被随机掩码覆盖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脚本：analysis/leak_quant.py（c7e9e3d 修后）、leakage_budget.py、mask_session.py、export_mask_domains.py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29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 实验数据：掩码复用攻击、成员推理与调度混淆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复用掩码时激活差分被精确恢复（误差 ≈1e-8）；新鲜掩码下单次符号恢复率 50.0%。成员推理 AUC 的旧数（UCI 0.58 / 0.74）因采样混淆撤回，本机初测：仅索引≈随机，全 logits 只有 CIFAR 稳健泄露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69494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E10a/E10b（5 种子；AUC 0.5 = 瞎猜；误差越小 = 泄露越多）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6949439" cy="124358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97280"/>
                <a:gridCol w="1371599"/>
                <a:gridCol w="1463040"/>
                <a:gridCol w="1508760"/>
                <a:gridCol w="15087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复用掩码：恢复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差分的误差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新鲜掩码：单次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符号恢复率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AUC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（全部 logits）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AUC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（仅类别索引）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4.7e-09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50.0%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0.490–0.553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0.493–0.505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2.2e-08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50.0%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0.674–0.698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0.498–0.542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2.6e-08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50.0%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0.495–0.574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0.499–0.516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063240"/>
            <a:ext cx="69494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E10c 调度混淆开销（解析估算：r_h=6.02 + E4 字节；未实测）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64992"/>
          <a:ext cx="6949436" cy="115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731519"/>
                <a:gridCol w="1280159"/>
                <a:gridCol w="2011679"/>
                <a:gridCol w="2926079"/>
              </a:tblGrid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hybrid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层数 K_h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额外往返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次数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额外字节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（上传+下载）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额外时延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@RTT 50 ms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12.0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3.41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602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1.70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301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0.00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650000"/>
            <a:ext cx="6949440" cy="5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E10c 仍是估算：每个纯同态层要补一整段 hybrid（①+②+SCI），所以额外开销 = 层数 × 6.02 往返 + 约 1.7 MB（baseline 线格式）；3 数据集 × 4 调度的实测本轮暂缓。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Verdict"/>
          <p:cNvSpPr/>
          <p:nvPr/>
        </p:nvSpPr>
        <p:spPr>
          <a:xfrm>
            <a:off x="7635240" y="3977639"/>
            <a:ext cx="4114800" cy="242316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Verdict pill"/>
          <p:cNvSpPr/>
          <p:nvPr/>
        </p:nvSpPr>
        <p:spPr>
          <a:xfrm>
            <a:off x="7818119" y="412394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E10a 达到，E10b 待重跑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0" y="4105655"/>
            <a:ext cx="15087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8119" y="4544568"/>
            <a:ext cx="3749039" cy="1783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H6 的第一条成立——复用掩码精确泄露、新鲜掩码(v2)下符号恢复率 50.0%；M2 已按 ±2^σ·B_k 修复并重测，3 数据集 × 5 种子齐全。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待重跑：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第二条（输出最小化）——本机初测：仅索引 AUC 三个数据集都与置换零分布一致（各 1/5 种子 p&lt;0.05，接近多重检验期望）；全 logits 只有 CIFAR 稳健 &gt;0.5（0.67–0.70），MNIST ≈0.52、UCI ≈0.54，之前“UCI 最易泄露”撤回。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仍缺：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E10b 修后数据落盘；E10c 实测；统计强度 2^-30/查询（见下一页补充）。调度混淆只防网络观察者，对服务器无意义。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5230000"/>
            <a:ext cx="6949440" cy="117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怎么读：复用组中 (z₁+r)−(z₂+r) 精确等于 z₁−z₂，激活差分完全暴露——这是 M1“必须一次性”的证据。成员推理一栏是修后脚本的本机初测，不是已落盘数据：仅索引档与随机无差异，说明输出档位 B 能把成员推理压回噪声；全 logits 泄露随过拟合程度变（CIFAR 最大）。旧结论（含“AUC 0.45 是噪声”“UCI 最易泄露”）全部作废。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数据：E10a 来自 results/raw_results/E10/all/summary_5seeds.json；E10b 区间来自 docs/审阅_P1P2代码_2026-10-29.md §5.1（本机验证，未落盘）；E10c 为解析估算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30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Card AUC"/>
          <p:cNvSpPr/>
          <p:nvPr/>
        </p:nvSpPr>
        <p:spPr>
          <a:xfrm>
            <a:off x="7635240" y="1371600"/>
            <a:ext cx="4114800" cy="246888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7755240" y="1431600"/>
            <a:ext cx="387480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2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 AUC 为什么撤回</a:t>
            </a:r>
            <a:endParaRPr lang="zh-CN" sz="12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"/>
          <p:cNvSpPr txBox="1"/>
          <p:nvPr/>
        </p:nvSpPr>
        <p:spPr>
          <a:xfrm>
            <a:off x="7755240" y="1771600"/>
            <a:ext cx="3874800" cy="2028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采样混淆：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旧脚本取“前 n 条”。UCI 测试集按受试者/动作排序，攻击学到的是类别先验，不是成员信号。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对半切偏差：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只修采样后，UCI 仅索引变成 0.449–0.487（全部 &lt;0.5），原因是训练/评估取自同一批样本。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已修：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类别分层抽样、训练/评估集不重叠、200 次置换检验。本机初测见左表，未落盘，待 DeepSeek 重跑。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被撤回的旧数：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UCI 仅索引 0.581、全 logits 0.740；“UCI 最易泄露”。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 补充：M2 掩码域修复与统计强度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掩码域从“训练范围 + 5%”改为 ±2^σ·B_k 后，单次查询的符号恢复率回到 50%；统计距离约 2^-30/查询，约 800–2000 次查询后需要重新 Setup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数据：results/raw_results/E10/*/mask_fresh_layer*、mask_fresh_v1_layer1（5 种子）；analysis/mask_session.py；docs/审阅_P1P2代码_2026-10-29.md §3-H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31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Card 说明"/>
          <p:cNvSpPr/>
          <p:nvPr/>
        </p:nvSpPr>
        <p:spPr>
          <a:xfrm>
            <a:off x="457200" y="1417320"/>
            <a:ext cx="4500000" cy="4960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07200" y="1480000"/>
            <a:ext cx="420000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改了什么、为什么这样改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"/>
          <p:cNvSpPr txBox="1"/>
          <p:nvPr/>
        </p:nvSpPr>
        <p:spPr>
          <a:xfrm>
            <a:off x="607200" y="1850000"/>
            <a:ext cx="4200000" cy="4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旧规则（v1）：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掩码取训练激活的观察范围 + 5%。攻击者看到 z+r 时，r 的范围几乎等于 z 的范围，符号可以猜对 54–55%——只有弱的统计隐藏。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新规则（v2）：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掩码在 2^-8 网格上均匀取自 [−A_k, A_k)，A_k = 2^σ_k · B_k，B_k 是不小于 1.25×最大激活的 2 的幂。σ_k 越大，z+r 越接近纯均匀。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σ 为什么只有 36–39：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客户端用 double 解码 z+r，只有 53 位有效数字。实测 |r| ≤ 2^44 时解码误差在噪声水平，2^48 开始失真，所以把 A_k 封顶在 2^42。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代价：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统计强度低于协议 §1.2 写的 64–80 bit。论文里要把 §6.2 改写成“统计距离 + 最多查询次数 Q_max”，或者改用更高精度解码。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"/>
          <p:cNvSpPr txBox="1"/>
          <p:nvPr/>
        </p:nvSpPr>
        <p:spPr>
          <a:xfrm>
            <a:off x="5150000" y="1325880"/>
            <a:ext cx="66000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每个数据集的掩码域与统计强度（seed73）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3" name="Table M2"/>
          <p:cNvGraphicFramePr>
            <a:graphicFrameLocks noGrp="1"/>
          </p:cNvGraphicFramePr>
          <p:nvPr/>
        </p:nvGraphicFramePr>
        <p:xfrm>
          <a:off x="5150000" y="1650000"/>
          <a:ext cx="6600000" cy="1680000"/>
        </p:xfrm>
        <a:graphic>
          <a:graphicData uri="http://schemas.openxmlformats.org/drawingml/2006/table">
            <a:tbl>
              <a:tblPr firstRow="1"/>
              <a:tblGrid>
                <a:gridCol w="1100000"/>
                <a:gridCol w="1400000"/>
                <a:gridCol w="1400000"/>
                <a:gridCol w="1200000"/>
                <a:gridCol w="150000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第 1 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元素数 / 界 B / σ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第 2 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元素数 / 界 B / σ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每次查询的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统计距离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Q_max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（累计距离 ≤ 2^-20）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256 / 16 / 38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64 / 32 / 37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2^-31.0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2064 次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1200 / 8 / 39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128 / 64 / 36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2^-29.6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783 次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756 / 16 / 38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128 / 64 / 36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2^-29.8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917 次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"/>
          <p:cNvSpPr txBox="1"/>
          <p:nvPr/>
        </p:nvSpPr>
        <p:spPr>
          <a:xfrm>
            <a:off x="5150000" y="3480000"/>
            <a:ext cx="66000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复用 / 新鲜(v2) / 旧规则(v1)：攻击者的收获（5 种子）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5" name="Table 泄露"/>
          <p:cNvGraphicFramePr>
            <a:graphicFrameLocks noGrp="1"/>
          </p:cNvGraphicFramePr>
          <p:nvPr/>
        </p:nvGraphicFramePr>
        <p:xfrm>
          <a:off x="5150000" y="3800000"/>
          <a:ext cx="6600000" cy="1680000"/>
        </p:xfrm>
        <a:graphic>
          <a:graphicData uri="http://schemas.openxmlformats.org/drawingml/2006/table">
            <a:tbl>
              <a:tblPr firstRow="1"/>
              <a:tblGrid>
                <a:gridCol w="1100000"/>
                <a:gridCol w="2200000"/>
                <a:gridCol w="1650000"/>
                <a:gridCol w="165000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复用同一掩码：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恢复激活差分的误差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新鲜掩码 v2：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单次符号恢复率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旧规则 v1：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单次符号恢复率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4.7e-09（≈ 精确恢复）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50.0% ± 0.4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54.0% ± 0.2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2.2e-08（≈ 精确恢复）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50.0% ± 0.1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54.5% ± 0.1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2.6e-08（≈ 精确恢复）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50.0% ± 0.2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54.6% ± 0.1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"/>
          <p:cNvSpPr txBox="1"/>
          <p:nvPr/>
        </p:nvSpPr>
        <p:spPr>
          <a:xfrm>
            <a:off x="5150000" y="5560000"/>
            <a:ext cx="6600000" cy="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说明：50% = 瞎猜。复用组的误差约 1e-8，是 double 在 2^42 量级掩码下的精度极限，意味着差分被精确恢复；结论与上一版相同，只是数字从 1e-16 变为 1e-8。ECG 每分钟上传约 1440 次/天，按 Q_max ≈ 800–2000 计，大约一天就要重新 Setup。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总述：未完成点、原因与下一步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已经扎实的：密文正确性（E1）、客户端计算时间（E2，Pi5）、字节与压缩实测（E4）、Delphi 复现、r_h 实测、掩码复用泄漏（E10a）；客户端内存约 112 MB（Delphi 的 1/3）；已撤回待重跑：成员推理 AUC（E10b）；最大的新问题：r_h = 6.02、M2 统计强度约 2^-30/查询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92840" cy="488289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94360"/>
                <a:gridCol w="2331720"/>
                <a:gridCol w="2194560"/>
                <a:gridCol w="2331720"/>
                <a:gridCol w="384048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优先级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未完成点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影响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原因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下一步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P0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r_h = 6.02，远高于设计目标 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全混合一次查询 14 次往返（设计值 4）；“低交互”卖点被削弱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SCI 内部 OT 每层约 5 次往返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论文改用实测口径；评估能否压到 ≤3 轮的 ReLU 协议；卖点转到字节与无逐次预处理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P0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M2 统计强度约 2^-30/查询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安全声明要写成“统计距离 + Q_max（约 800–2000 次）”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double 解码只有 53 位有效数字，σ ≤ 39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改用更高精度解码或降低定点位数；§6.2/§11 改写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P1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深网无密文实现；P₂→卷积重排未做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VGG 的 00100 当前不可执行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现有 HE 路径只有单通道 im2col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实现 P₂→卷积重排；conv2/conv3 单种子先跑通（hybrid→卷积已验证可行）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P1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压缩线格式的延迟收益未测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字节 −74% 还没有换算成延迟/能耗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只测了序列化字节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在 Pi5 上用 compact 档重跑 E2/E3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P1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E3 全网格 216 点、netem 版 E9、E1 抽查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曲线仍是解析模型；抽样缺口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耗时（约 2.3 h + 3.3 h + 全网格）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时间允许时补跑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P1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E10b 旧 AUC 撤回待重跑；E10c 混淆调度未实测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H6 第二条无落盘数据；E10c 只有估算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采样混淆 + 对半切偏差（已修脚本）；E10c 暂缓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重跑 leak_quant.py（3×5）；E10c 3 数据集 × 4 调度实测；论文只引新数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P2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E6 能耗、Pi4、hybrid 内存增量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Fig. 7、Table 10 的内存约束空缺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无功率计、无 Pi4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采购/借用；拆进程测 hybrid 内存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P2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E7 其余 3 项消融 / GC 路线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Table 8 只有 4 项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EMP-toolkit 未集成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客户端感知需改用深网并实测服务器时间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P2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环境口径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实现表与方案不一致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运行时是 litepi_sci（非远端 CrypTFlow2）；Python 3.10 vs 方案 3.11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论文实现表如实标注；协议 §6 字节表、§4 的 r_h 同步更新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数据与代码：MrWangneverplay/LitePI @ sci-backend 50043d7；对照文档：实验方案设计、LitePI 协议设计、论文草稿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32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31241</Words>
  <Application>WPS 演示</Application>
  <PresentationFormat>Converted Presentation</PresentationFormat>
  <Paragraphs>2896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8" baseType="lpstr">
      <vt:lpstr>Arial</vt:lpstr>
      <vt:lpstr>宋体</vt:lpstr>
      <vt:lpstr>Wingdings</vt:lpstr>
      <vt:lpstr>Helvetica Neue</vt:lpstr>
      <vt:lpstr>Arial</vt:lpstr>
      <vt:lpstr>微软雅黑</vt:lpstr>
      <vt:lpstr>KSOFF8957A5C</vt:lpstr>
      <vt:lpstr>SWAstro</vt:lpstr>
      <vt:lpstr>Arial Unicode MS</vt:lpstr>
      <vt:lpstr>Aptos</vt:lpstr>
      <vt:lpstr>Segoe UI</vt:lpstr>
      <vt:lpstr>KSOFF895EEBB</vt:lpstr>
      <vt:lpstr>MS PGothic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WPS_1671886272</cp:lastModifiedBy>
  <cp:revision>7</cp:revision>
  <dcterms:created xsi:type="dcterms:W3CDTF">2026-10-17T10:07:00Z</dcterms:created>
  <dcterms:modified xsi:type="dcterms:W3CDTF">2026-10-30T05:17:21Z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144A35E1CBB2411AB97C585367D96182_12</vt:lpwstr>
  </property>
</Properties>
</file>